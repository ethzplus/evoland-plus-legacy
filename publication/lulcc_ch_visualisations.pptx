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7" r:id="rId2"/>
    <p:sldId id="258" r:id="rId3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Figure_1_V1" id="{423FCDDB-C47F-4456-BCC4-D52F9D024FCB}">
          <p14:sldIdLst>
            <p14:sldId id="257"/>
          </p14:sldIdLst>
        </p14:section>
        <p14:section name="Figure_1_V2" id="{88CEF7F3-5306-4F60-8BAE-61A82305E89F}">
          <p14:sldIdLst>
            <p14:sldId id="25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6E9EE"/>
    <a:srgbClr val="D6DCE4"/>
    <a:srgbClr val="ACB9CA"/>
    <a:srgbClr val="8497B0"/>
    <a:srgbClr val="333F4F"/>
    <a:srgbClr val="222B35"/>
    <a:srgbClr val="ECECE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125" d="100"/>
          <a:sy n="125" d="100"/>
        </p:scale>
        <p:origin x="930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02E74-1BEC-4682-B539-13A15FE70A36}" type="datetimeFigureOut">
              <a:rPr lang="en-GB" smtClean="0"/>
              <a:t>25/11/2022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DEE93A-5D7F-45E3-9A29-AF2FD327AD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618247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02E74-1BEC-4682-B539-13A15FE70A36}" type="datetimeFigureOut">
              <a:rPr lang="en-GB" smtClean="0"/>
              <a:t>25/11/2022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DEE93A-5D7F-45E3-9A29-AF2FD327AD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74008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02E74-1BEC-4682-B539-13A15FE70A36}" type="datetimeFigureOut">
              <a:rPr lang="en-GB" smtClean="0"/>
              <a:t>25/11/2022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DEE93A-5D7F-45E3-9A29-AF2FD327AD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6059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02E74-1BEC-4682-B539-13A15FE70A36}" type="datetimeFigureOut">
              <a:rPr lang="en-GB" smtClean="0"/>
              <a:t>25/11/2022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DEE93A-5D7F-45E3-9A29-AF2FD327AD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79463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02E74-1BEC-4682-B539-13A15FE70A36}" type="datetimeFigureOut">
              <a:rPr lang="en-GB" smtClean="0"/>
              <a:t>25/11/2022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DEE93A-5D7F-45E3-9A29-AF2FD327AD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26265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02E74-1BEC-4682-B539-13A15FE70A36}" type="datetimeFigureOut">
              <a:rPr lang="en-GB" smtClean="0"/>
              <a:t>25/11/2022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DEE93A-5D7F-45E3-9A29-AF2FD327AD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201877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02E74-1BEC-4682-B539-13A15FE70A36}" type="datetimeFigureOut">
              <a:rPr lang="en-GB" smtClean="0"/>
              <a:t>25/11/2022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DEE93A-5D7F-45E3-9A29-AF2FD327AD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12909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02E74-1BEC-4682-B539-13A15FE70A36}" type="datetimeFigureOut">
              <a:rPr lang="en-GB" smtClean="0"/>
              <a:t>25/11/2022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DEE93A-5D7F-45E3-9A29-AF2FD327AD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054039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02E74-1BEC-4682-B539-13A15FE70A36}" type="datetimeFigureOut">
              <a:rPr lang="en-GB" smtClean="0"/>
              <a:t>25/11/2022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DEE93A-5D7F-45E3-9A29-AF2FD327AD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979220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02E74-1BEC-4682-B539-13A15FE70A36}" type="datetimeFigureOut">
              <a:rPr lang="en-GB" smtClean="0"/>
              <a:t>25/11/2022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DEE93A-5D7F-45E3-9A29-AF2FD327AD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42116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02E74-1BEC-4682-B539-13A15FE70A36}" type="datetimeFigureOut">
              <a:rPr lang="en-GB" smtClean="0"/>
              <a:t>25/11/2022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DEE93A-5D7F-45E3-9A29-AF2FD327AD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954550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A02E74-1BEC-4682-B539-13A15FE70A36}" type="datetimeFigureOut">
              <a:rPr lang="en-GB" smtClean="0"/>
              <a:t>25/11/2022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1DEE93A-5D7F-45E3-9A29-AF2FD327AD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7003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7" name="Group 96">
            <a:extLst>
              <a:ext uri="{FF2B5EF4-FFF2-40B4-BE49-F238E27FC236}">
                <a16:creationId xmlns:a16="http://schemas.microsoft.com/office/drawing/2014/main" id="{5BA7C23E-6197-BC23-1BB2-2F2B5D74121C}"/>
              </a:ext>
            </a:extLst>
          </p:cNvPr>
          <p:cNvGrpSpPr/>
          <p:nvPr/>
        </p:nvGrpSpPr>
        <p:grpSpPr>
          <a:xfrm>
            <a:off x="1135389" y="766038"/>
            <a:ext cx="6440900" cy="5239347"/>
            <a:chOff x="801092" y="834864"/>
            <a:chExt cx="6440900" cy="5239347"/>
          </a:xfrm>
        </p:grpSpPr>
        <p:sp>
          <p:nvSpPr>
            <p:cNvPr id="9" name="Flowchart: Decision 8">
              <a:extLst>
                <a:ext uri="{FF2B5EF4-FFF2-40B4-BE49-F238E27FC236}">
                  <a16:creationId xmlns:a16="http://schemas.microsoft.com/office/drawing/2014/main" id="{9BAB24E8-6FA0-8716-84A0-D2CA1E975C22}"/>
                </a:ext>
              </a:extLst>
            </p:cNvPr>
            <p:cNvSpPr/>
            <p:nvPr/>
          </p:nvSpPr>
          <p:spPr>
            <a:xfrm>
              <a:off x="801092" y="2863100"/>
              <a:ext cx="1528415" cy="1284772"/>
            </a:xfrm>
            <a:prstGeom prst="flowChartDecision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GB" sz="1200" dirty="0">
                  <a:latin typeface="Lato Light" panose="020F0502020204030203" pitchFamily="34" charset="0"/>
                  <a:ea typeface="Lato Light" panose="020F0502020204030203" pitchFamily="34" charset="0"/>
                  <a:cs typeface="Lato Light" panose="020F0502020204030203" pitchFamily="34" charset="0"/>
                </a:rPr>
                <a:t>Scenario</a:t>
              </a:r>
            </a:p>
          </p:txBody>
        </p:sp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id="{907E1DD8-E4D3-2B12-9E2E-45DA24D837D8}"/>
                </a:ext>
              </a:extLst>
            </p:cNvPr>
            <p:cNvGrpSpPr/>
            <p:nvPr/>
          </p:nvGrpSpPr>
          <p:grpSpPr>
            <a:xfrm>
              <a:off x="1565300" y="834864"/>
              <a:ext cx="5676692" cy="5239347"/>
              <a:chOff x="1565300" y="834864"/>
              <a:chExt cx="5676692" cy="5239347"/>
            </a:xfrm>
          </p:grpSpPr>
          <p:sp>
            <p:nvSpPr>
              <p:cNvPr id="6" name="Flowchart: Multidocument 5">
                <a:extLst>
                  <a:ext uri="{FF2B5EF4-FFF2-40B4-BE49-F238E27FC236}">
                    <a16:creationId xmlns:a16="http://schemas.microsoft.com/office/drawing/2014/main" id="{0E895BA0-D204-070C-2B77-1F2CF269C63B}"/>
                  </a:ext>
                </a:extLst>
              </p:cNvPr>
              <p:cNvSpPr/>
              <p:nvPr/>
            </p:nvSpPr>
            <p:spPr>
              <a:xfrm>
                <a:off x="2646594" y="1941940"/>
                <a:ext cx="1232919" cy="649649"/>
              </a:xfrm>
              <a:prstGeom prst="flowChartMultidocument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dirty="0"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Dynamic predictors</a:t>
                </a:r>
              </a:p>
            </p:txBody>
          </p:sp>
          <p:sp>
            <p:nvSpPr>
              <p:cNvPr id="7" name="Flowchart: Multidocument 6">
                <a:extLst>
                  <a:ext uri="{FF2B5EF4-FFF2-40B4-BE49-F238E27FC236}">
                    <a16:creationId xmlns:a16="http://schemas.microsoft.com/office/drawing/2014/main" id="{2EBE057C-2BFB-1377-25EB-96C50F8E6696}"/>
                  </a:ext>
                </a:extLst>
              </p:cNvPr>
              <p:cNvSpPr/>
              <p:nvPr/>
            </p:nvSpPr>
            <p:spPr>
              <a:xfrm>
                <a:off x="5937965" y="2461881"/>
                <a:ext cx="1304027" cy="879436"/>
              </a:xfrm>
              <a:prstGeom prst="flowChartMultidocument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dirty="0"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Static predictors</a:t>
                </a:r>
              </a:p>
            </p:txBody>
          </p:sp>
          <p:sp>
            <p:nvSpPr>
              <p:cNvPr id="8" name="Flowchart: Multidocument 7">
                <a:extLst>
                  <a:ext uri="{FF2B5EF4-FFF2-40B4-BE49-F238E27FC236}">
                    <a16:creationId xmlns:a16="http://schemas.microsoft.com/office/drawing/2014/main" id="{E62AA555-6398-B1C4-998C-DB2E396E34B2}"/>
                  </a:ext>
                </a:extLst>
              </p:cNvPr>
              <p:cNvSpPr/>
              <p:nvPr/>
            </p:nvSpPr>
            <p:spPr>
              <a:xfrm>
                <a:off x="5937965" y="1237311"/>
                <a:ext cx="1304027" cy="955394"/>
              </a:xfrm>
              <a:prstGeom prst="flowChartMultidocument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dirty="0"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Transition potential models</a:t>
                </a:r>
              </a:p>
            </p:txBody>
          </p:sp>
          <p:sp>
            <p:nvSpPr>
              <p:cNvPr id="10" name="Flowchart: Multidocument 9">
                <a:extLst>
                  <a:ext uri="{FF2B5EF4-FFF2-40B4-BE49-F238E27FC236}">
                    <a16:creationId xmlns:a16="http://schemas.microsoft.com/office/drawing/2014/main" id="{47DE9C19-D4D8-EDF0-8DD4-DBB34D7140A4}"/>
                  </a:ext>
                </a:extLst>
              </p:cNvPr>
              <p:cNvSpPr/>
              <p:nvPr/>
            </p:nvSpPr>
            <p:spPr>
              <a:xfrm>
                <a:off x="4256487" y="3075060"/>
                <a:ext cx="1273424" cy="879437"/>
              </a:xfrm>
              <a:prstGeom prst="flowChartMultidocument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dirty="0"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Transition potential maps</a:t>
                </a:r>
              </a:p>
            </p:txBody>
          </p:sp>
          <p:sp>
            <p:nvSpPr>
              <p:cNvPr id="11" name="Flowchart: Document 10">
                <a:extLst>
                  <a:ext uri="{FF2B5EF4-FFF2-40B4-BE49-F238E27FC236}">
                    <a16:creationId xmlns:a16="http://schemas.microsoft.com/office/drawing/2014/main" id="{E96C7314-A7AA-2970-3AA8-A374D83270E0}"/>
                  </a:ext>
                </a:extLst>
              </p:cNvPr>
              <p:cNvSpPr/>
              <p:nvPr/>
            </p:nvSpPr>
            <p:spPr>
              <a:xfrm>
                <a:off x="4284118" y="5374986"/>
                <a:ext cx="1058950" cy="699225"/>
              </a:xfrm>
              <a:prstGeom prst="flowChartDocumen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dirty="0"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Simulated LULC (t+5</a:t>
                </a:r>
                <a:r>
                  <a:rPr lang="en-GB" sz="1517" dirty="0"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)</a:t>
                </a:r>
              </a:p>
            </p:txBody>
          </p:sp>
          <p:sp>
            <p:nvSpPr>
              <p:cNvPr id="12" name="Flowchart: Document 11">
                <a:extLst>
                  <a:ext uri="{FF2B5EF4-FFF2-40B4-BE49-F238E27FC236}">
                    <a16:creationId xmlns:a16="http://schemas.microsoft.com/office/drawing/2014/main" id="{A2525305-0B05-74CE-2861-D9F0F46F38F9}"/>
                  </a:ext>
                </a:extLst>
              </p:cNvPr>
              <p:cNvSpPr/>
              <p:nvPr/>
            </p:nvSpPr>
            <p:spPr>
              <a:xfrm>
                <a:off x="4256487" y="834864"/>
                <a:ext cx="1201970" cy="648857"/>
              </a:xfrm>
              <a:prstGeom prst="flowChartDocumen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dirty="0"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 LULC (t)</a:t>
                </a:r>
              </a:p>
            </p:txBody>
          </p:sp>
          <p:sp>
            <p:nvSpPr>
              <p:cNvPr id="13" name="Flowchart: Process 12">
                <a:extLst>
                  <a:ext uri="{FF2B5EF4-FFF2-40B4-BE49-F238E27FC236}">
                    <a16:creationId xmlns:a16="http://schemas.microsoft.com/office/drawing/2014/main" id="{35844639-55C4-6A44-6938-188C13D58C8E}"/>
                  </a:ext>
                </a:extLst>
              </p:cNvPr>
              <p:cNvSpPr/>
              <p:nvPr/>
            </p:nvSpPr>
            <p:spPr>
              <a:xfrm>
                <a:off x="4224638" y="4428676"/>
                <a:ext cx="1177911" cy="612648"/>
              </a:xfrm>
              <a:prstGeom prst="flowChartProcess">
                <a:avLst/>
              </a:prstGeom>
              <a:solidFill>
                <a:schemeClr val="bg1"/>
              </a:solidFill>
              <a:ln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dirty="0">
                    <a:solidFill>
                      <a:schemeClr val="tx1"/>
                    </a:solidFill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Transition</a:t>
                </a:r>
              </a:p>
              <a:p>
                <a:pPr algn="ctr"/>
                <a:r>
                  <a:rPr lang="en-GB" sz="1200" dirty="0">
                    <a:solidFill>
                      <a:schemeClr val="tx1"/>
                    </a:solidFill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allocation</a:t>
                </a:r>
              </a:p>
            </p:txBody>
          </p:sp>
          <p:sp>
            <p:nvSpPr>
              <p:cNvPr id="14" name="Flowchart: Process 13">
                <a:extLst>
                  <a:ext uri="{FF2B5EF4-FFF2-40B4-BE49-F238E27FC236}">
                    <a16:creationId xmlns:a16="http://schemas.microsoft.com/office/drawing/2014/main" id="{30EC2951-1D3C-ED1E-6869-C0A6A3D50711}"/>
                  </a:ext>
                </a:extLst>
              </p:cNvPr>
              <p:cNvSpPr/>
              <p:nvPr/>
            </p:nvSpPr>
            <p:spPr>
              <a:xfrm>
                <a:off x="4256487" y="1808545"/>
                <a:ext cx="1201970" cy="879436"/>
              </a:xfrm>
              <a:prstGeom prst="flowChartProcess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dirty="0">
                    <a:solidFill>
                      <a:schemeClr val="tx1"/>
                    </a:solidFill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Cellular Transition potential prediction</a:t>
                </a:r>
              </a:p>
            </p:txBody>
          </p:sp>
          <p:sp>
            <p:nvSpPr>
              <p:cNvPr id="15" name="Flowchart: Alternate Process 14">
                <a:extLst>
                  <a:ext uri="{FF2B5EF4-FFF2-40B4-BE49-F238E27FC236}">
                    <a16:creationId xmlns:a16="http://schemas.microsoft.com/office/drawing/2014/main" id="{D6D59A8C-DFF7-52B1-E8D4-6A258E33F0FD}"/>
                  </a:ext>
                </a:extLst>
              </p:cNvPr>
              <p:cNvSpPr/>
              <p:nvPr/>
            </p:nvSpPr>
            <p:spPr>
              <a:xfrm>
                <a:off x="2646594" y="3053167"/>
                <a:ext cx="1232919" cy="904637"/>
              </a:xfrm>
              <a:prstGeom prst="flowChartAlternateProcess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dirty="0">
                    <a:solidFill>
                      <a:schemeClr val="tx1"/>
                    </a:solidFill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Transition potential perturbation</a:t>
                </a:r>
              </a:p>
            </p:txBody>
          </p:sp>
          <p:sp>
            <p:nvSpPr>
              <p:cNvPr id="16" name="Flowchart: Alternate Process 15">
                <a:extLst>
                  <a:ext uri="{FF2B5EF4-FFF2-40B4-BE49-F238E27FC236}">
                    <a16:creationId xmlns:a16="http://schemas.microsoft.com/office/drawing/2014/main" id="{C9FB045D-1484-809E-7CC2-A96640575CCE}"/>
                  </a:ext>
                </a:extLst>
              </p:cNvPr>
              <p:cNvSpPr/>
              <p:nvPr/>
            </p:nvSpPr>
            <p:spPr>
              <a:xfrm>
                <a:off x="2646595" y="4266412"/>
                <a:ext cx="1207204" cy="904637"/>
              </a:xfrm>
              <a:prstGeom prst="flowChartAlternateProcess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dirty="0">
                    <a:solidFill>
                      <a:schemeClr val="tx1"/>
                    </a:solidFill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Transition occurrence rates</a:t>
                </a:r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930567D9-F389-1AC3-2A66-929493944685}"/>
                  </a:ext>
                </a:extLst>
              </p:cNvPr>
              <p:cNvCxnSpPr>
                <a:cxnSpLocks/>
                <a:stCxn id="6" idx="3"/>
                <a:endCxn id="14" idx="1"/>
              </p:cNvCxnSpPr>
              <p:nvPr/>
            </p:nvCxnSpPr>
            <p:spPr>
              <a:xfrm flipV="1">
                <a:off x="3879513" y="2248263"/>
                <a:ext cx="376974" cy="18502"/>
              </a:xfrm>
              <a:prstGeom prst="straightConnector1">
                <a:avLst/>
              </a:prstGeom>
              <a:ln>
                <a:solidFill>
                  <a:schemeClr val="tx1">
                    <a:lumMod val="85000"/>
                    <a:lumOff val="1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C4284097-C141-3E23-D173-5C55046B4E81}"/>
                  </a:ext>
                </a:extLst>
              </p:cNvPr>
              <p:cNvCxnSpPr>
                <a:cxnSpLocks/>
                <a:stCxn id="12" idx="2"/>
                <a:endCxn id="14" idx="0"/>
              </p:cNvCxnSpPr>
              <p:nvPr/>
            </p:nvCxnSpPr>
            <p:spPr>
              <a:xfrm>
                <a:off x="4857472" y="1440824"/>
                <a:ext cx="0" cy="367721"/>
              </a:xfrm>
              <a:prstGeom prst="straightConnector1">
                <a:avLst/>
              </a:prstGeom>
              <a:ln>
                <a:solidFill>
                  <a:schemeClr val="tx1">
                    <a:lumMod val="85000"/>
                    <a:lumOff val="1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Connector: Elbow 28">
                <a:extLst>
                  <a:ext uri="{FF2B5EF4-FFF2-40B4-BE49-F238E27FC236}">
                    <a16:creationId xmlns:a16="http://schemas.microsoft.com/office/drawing/2014/main" id="{A2D95579-0F4C-066D-3E42-FBFD7BF278D3}"/>
                  </a:ext>
                </a:extLst>
              </p:cNvPr>
              <p:cNvCxnSpPr>
                <a:stCxn id="9" idx="0"/>
                <a:endCxn id="6" idx="1"/>
              </p:cNvCxnSpPr>
              <p:nvPr/>
            </p:nvCxnSpPr>
            <p:spPr>
              <a:xfrm rot="5400000" flipH="1" flipV="1">
                <a:off x="1807780" y="2024286"/>
                <a:ext cx="596335" cy="1081294"/>
              </a:xfrm>
              <a:prstGeom prst="bentConnector2">
                <a:avLst/>
              </a:prstGeom>
              <a:ln>
                <a:solidFill>
                  <a:schemeClr val="tx1">
                    <a:lumMod val="85000"/>
                    <a:lumOff val="1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Connector: Elbow 30">
                <a:extLst>
                  <a:ext uri="{FF2B5EF4-FFF2-40B4-BE49-F238E27FC236}">
                    <a16:creationId xmlns:a16="http://schemas.microsoft.com/office/drawing/2014/main" id="{85BD8170-0AA0-5374-D7DC-A2FD220A6FB7}"/>
                  </a:ext>
                </a:extLst>
              </p:cNvPr>
              <p:cNvCxnSpPr>
                <a:cxnSpLocks/>
                <a:stCxn id="8" idx="1"/>
                <a:endCxn id="14" idx="3"/>
              </p:cNvCxnSpPr>
              <p:nvPr/>
            </p:nvCxnSpPr>
            <p:spPr>
              <a:xfrm rot="10800000" flipV="1">
                <a:off x="5458457" y="1715007"/>
                <a:ext cx="479508" cy="533255"/>
              </a:xfrm>
              <a:prstGeom prst="bentConnector3">
                <a:avLst/>
              </a:prstGeom>
              <a:ln>
                <a:solidFill>
                  <a:schemeClr val="tx1">
                    <a:lumMod val="85000"/>
                    <a:lumOff val="1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Connector: Elbow 31">
                <a:extLst>
                  <a:ext uri="{FF2B5EF4-FFF2-40B4-BE49-F238E27FC236}">
                    <a16:creationId xmlns:a16="http://schemas.microsoft.com/office/drawing/2014/main" id="{E4210A09-6343-F925-034C-F7AC6CAF4F3A}"/>
                  </a:ext>
                </a:extLst>
              </p:cNvPr>
              <p:cNvCxnSpPr>
                <a:cxnSpLocks/>
                <a:stCxn id="7" idx="1"/>
                <a:endCxn id="14" idx="3"/>
              </p:cNvCxnSpPr>
              <p:nvPr/>
            </p:nvCxnSpPr>
            <p:spPr>
              <a:xfrm rot="10800000">
                <a:off x="5458457" y="2248263"/>
                <a:ext cx="479508" cy="653336"/>
              </a:xfrm>
              <a:prstGeom prst="bentConnector3">
                <a:avLst>
                  <a:gd name="adj1" fmla="val 50000"/>
                </a:avLst>
              </a:prstGeom>
              <a:ln>
                <a:solidFill>
                  <a:schemeClr val="tx1">
                    <a:lumMod val="85000"/>
                    <a:lumOff val="1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Connector: Elbow 34">
                <a:extLst>
                  <a:ext uri="{FF2B5EF4-FFF2-40B4-BE49-F238E27FC236}">
                    <a16:creationId xmlns:a16="http://schemas.microsoft.com/office/drawing/2014/main" id="{9777F8F5-C9B1-EFC6-F910-AFB3D766CEF5}"/>
                  </a:ext>
                </a:extLst>
              </p:cNvPr>
              <p:cNvCxnSpPr>
                <a:cxnSpLocks/>
                <a:stCxn id="9" idx="2"/>
                <a:endCxn id="16" idx="1"/>
              </p:cNvCxnSpPr>
              <p:nvPr/>
            </p:nvCxnSpPr>
            <p:spPr>
              <a:xfrm rot="16200000" flipH="1">
                <a:off x="1820518" y="3892653"/>
                <a:ext cx="570859" cy="1081295"/>
              </a:xfrm>
              <a:prstGeom prst="bentConnector2">
                <a:avLst/>
              </a:prstGeom>
              <a:ln>
                <a:solidFill>
                  <a:schemeClr val="tx1">
                    <a:lumMod val="85000"/>
                    <a:lumOff val="1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4A41EB6C-54D9-3328-735D-F058A6819B23}"/>
                  </a:ext>
                </a:extLst>
              </p:cNvPr>
              <p:cNvCxnSpPr>
                <a:cxnSpLocks/>
                <a:stCxn id="9" idx="3"/>
                <a:endCxn id="15" idx="1"/>
              </p:cNvCxnSpPr>
              <p:nvPr/>
            </p:nvCxnSpPr>
            <p:spPr>
              <a:xfrm>
                <a:off x="2329507" y="3505486"/>
                <a:ext cx="317087" cy="0"/>
              </a:xfrm>
              <a:prstGeom prst="straightConnector1">
                <a:avLst/>
              </a:prstGeom>
              <a:ln>
                <a:solidFill>
                  <a:schemeClr val="tx1">
                    <a:lumMod val="85000"/>
                    <a:lumOff val="1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E681C5EB-A555-A3AF-2859-53913EEF7EEC}"/>
                  </a:ext>
                </a:extLst>
              </p:cNvPr>
              <p:cNvCxnSpPr>
                <a:cxnSpLocks/>
                <a:stCxn id="15" idx="3"/>
                <a:endCxn id="10" idx="1"/>
              </p:cNvCxnSpPr>
              <p:nvPr/>
            </p:nvCxnSpPr>
            <p:spPr>
              <a:xfrm>
                <a:off x="3879513" y="3505486"/>
                <a:ext cx="376974" cy="9293"/>
              </a:xfrm>
              <a:prstGeom prst="straightConnector1">
                <a:avLst/>
              </a:prstGeom>
              <a:ln>
                <a:solidFill>
                  <a:schemeClr val="tx1">
                    <a:lumMod val="85000"/>
                    <a:lumOff val="1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83D955EA-2DB1-8969-2627-ED17E3879356}"/>
                  </a:ext>
                </a:extLst>
              </p:cNvPr>
              <p:cNvCxnSpPr>
                <a:cxnSpLocks/>
                <a:stCxn id="16" idx="3"/>
                <a:endCxn id="13" idx="1"/>
              </p:cNvCxnSpPr>
              <p:nvPr/>
            </p:nvCxnSpPr>
            <p:spPr>
              <a:xfrm>
                <a:off x="3853799" y="4718731"/>
                <a:ext cx="370839" cy="16269"/>
              </a:xfrm>
              <a:prstGeom prst="straightConnector1">
                <a:avLst/>
              </a:prstGeom>
              <a:ln>
                <a:solidFill>
                  <a:schemeClr val="tx1">
                    <a:lumMod val="85000"/>
                    <a:lumOff val="1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" name="Straight Arrow Connector 66">
                <a:extLst>
                  <a:ext uri="{FF2B5EF4-FFF2-40B4-BE49-F238E27FC236}">
                    <a16:creationId xmlns:a16="http://schemas.microsoft.com/office/drawing/2014/main" id="{19FBC0E7-49AD-B21C-82C4-4BD91F9C43B8}"/>
                  </a:ext>
                </a:extLst>
              </p:cNvPr>
              <p:cNvCxnSpPr>
                <a:cxnSpLocks/>
                <a:stCxn id="10" idx="2"/>
                <a:endCxn id="13" idx="0"/>
              </p:cNvCxnSpPr>
              <p:nvPr/>
            </p:nvCxnSpPr>
            <p:spPr>
              <a:xfrm>
                <a:off x="4804649" y="3921192"/>
                <a:ext cx="8945" cy="507484"/>
              </a:xfrm>
              <a:prstGeom prst="straightConnector1">
                <a:avLst/>
              </a:prstGeom>
              <a:ln>
                <a:solidFill>
                  <a:schemeClr val="tx1">
                    <a:lumMod val="85000"/>
                    <a:lumOff val="1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6" name="Straight Arrow Connector 75">
                <a:extLst>
                  <a:ext uri="{FF2B5EF4-FFF2-40B4-BE49-F238E27FC236}">
                    <a16:creationId xmlns:a16="http://schemas.microsoft.com/office/drawing/2014/main" id="{5562BAE5-044B-BC92-232A-E894ED2EA21F}"/>
                  </a:ext>
                </a:extLst>
              </p:cNvPr>
              <p:cNvCxnSpPr>
                <a:cxnSpLocks/>
                <a:stCxn id="14" idx="2"/>
              </p:cNvCxnSpPr>
              <p:nvPr/>
            </p:nvCxnSpPr>
            <p:spPr>
              <a:xfrm>
                <a:off x="4857472" y="2687981"/>
                <a:ext cx="0" cy="424916"/>
              </a:xfrm>
              <a:prstGeom prst="straightConnector1">
                <a:avLst/>
              </a:prstGeom>
              <a:ln>
                <a:solidFill>
                  <a:schemeClr val="tx1">
                    <a:lumMod val="85000"/>
                    <a:lumOff val="1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9" name="Straight Arrow Connector 78">
                <a:extLst>
                  <a:ext uri="{FF2B5EF4-FFF2-40B4-BE49-F238E27FC236}">
                    <a16:creationId xmlns:a16="http://schemas.microsoft.com/office/drawing/2014/main" id="{1EAB6A18-7E29-F4B8-738D-43339DFFA246}"/>
                  </a:ext>
                </a:extLst>
              </p:cNvPr>
              <p:cNvCxnSpPr>
                <a:cxnSpLocks/>
                <a:stCxn id="85" idx="1"/>
                <a:endCxn id="13" idx="3"/>
              </p:cNvCxnSpPr>
              <p:nvPr/>
            </p:nvCxnSpPr>
            <p:spPr>
              <a:xfrm flipH="1" flipV="1">
                <a:off x="5402549" y="4735000"/>
                <a:ext cx="459296" cy="9973"/>
              </a:xfrm>
              <a:prstGeom prst="straightConnector1">
                <a:avLst/>
              </a:prstGeom>
              <a:ln>
                <a:solidFill>
                  <a:schemeClr val="tx1">
                    <a:lumMod val="85000"/>
                    <a:lumOff val="1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5" name="Flowchart: Document 84">
                <a:extLst>
                  <a:ext uri="{FF2B5EF4-FFF2-40B4-BE49-F238E27FC236}">
                    <a16:creationId xmlns:a16="http://schemas.microsoft.com/office/drawing/2014/main" id="{7693D491-728F-C110-0C72-183A2513B8CC}"/>
                  </a:ext>
                </a:extLst>
              </p:cNvPr>
              <p:cNvSpPr/>
              <p:nvPr/>
            </p:nvSpPr>
            <p:spPr>
              <a:xfrm>
                <a:off x="5861845" y="4448622"/>
                <a:ext cx="1304026" cy="592702"/>
              </a:xfrm>
              <a:prstGeom prst="flowChartDocumen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dirty="0"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Allocation</a:t>
                </a:r>
              </a:p>
              <a:p>
                <a:pPr algn="ctr"/>
                <a:r>
                  <a:rPr lang="en-GB" sz="1200" dirty="0"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parameters</a:t>
                </a:r>
              </a:p>
            </p:txBody>
          </p:sp>
          <p:cxnSp>
            <p:nvCxnSpPr>
              <p:cNvPr id="92" name="Straight Arrow Connector 91">
                <a:extLst>
                  <a:ext uri="{FF2B5EF4-FFF2-40B4-BE49-F238E27FC236}">
                    <a16:creationId xmlns:a16="http://schemas.microsoft.com/office/drawing/2014/main" id="{4655569D-FA15-9E7B-BEE9-0126D8DB8CB2}"/>
                  </a:ext>
                </a:extLst>
              </p:cNvPr>
              <p:cNvCxnSpPr>
                <a:cxnSpLocks/>
                <a:stCxn id="13" idx="2"/>
                <a:endCxn id="11" idx="0"/>
              </p:cNvCxnSpPr>
              <p:nvPr/>
            </p:nvCxnSpPr>
            <p:spPr>
              <a:xfrm flipH="1">
                <a:off x="4813593" y="5041324"/>
                <a:ext cx="1" cy="333662"/>
              </a:xfrm>
              <a:prstGeom prst="straightConnector1">
                <a:avLst/>
              </a:prstGeom>
              <a:ln>
                <a:solidFill>
                  <a:schemeClr val="tx1">
                    <a:lumMod val="85000"/>
                    <a:lumOff val="1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40388247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2" name="Group 121">
            <a:extLst>
              <a:ext uri="{FF2B5EF4-FFF2-40B4-BE49-F238E27FC236}">
                <a16:creationId xmlns:a16="http://schemas.microsoft.com/office/drawing/2014/main" id="{403F4BD4-ECE4-484E-83B0-DE81C525BC35}"/>
              </a:ext>
            </a:extLst>
          </p:cNvPr>
          <p:cNvGrpSpPr/>
          <p:nvPr/>
        </p:nvGrpSpPr>
        <p:grpSpPr>
          <a:xfrm>
            <a:off x="1148138" y="270724"/>
            <a:ext cx="6244896" cy="5079887"/>
            <a:chOff x="1148138" y="270724"/>
            <a:chExt cx="6244896" cy="5079887"/>
          </a:xfrm>
        </p:grpSpPr>
        <p:sp>
          <p:nvSpPr>
            <p:cNvPr id="9" name="Flowchart: Decision 8">
              <a:extLst>
                <a:ext uri="{FF2B5EF4-FFF2-40B4-BE49-F238E27FC236}">
                  <a16:creationId xmlns:a16="http://schemas.microsoft.com/office/drawing/2014/main" id="{9BAB24E8-6FA0-8716-84A0-D2CA1E975C22}"/>
                </a:ext>
              </a:extLst>
            </p:cNvPr>
            <p:cNvSpPr/>
            <p:nvPr/>
          </p:nvSpPr>
          <p:spPr>
            <a:xfrm>
              <a:off x="1148138" y="2821464"/>
              <a:ext cx="1509883" cy="904637"/>
            </a:xfrm>
            <a:prstGeom prst="flowChartDecision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GB" sz="1200" dirty="0">
                  <a:latin typeface="Lato Light" panose="020F0502020204030203" pitchFamily="34" charset="0"/>
                  <a:ea typeface="Lato Light" panose="020F0502020204030203" pitchFamily="34" charset="0"/>
                  <a:cs typeface="Lato Light" panose="020F0502020204030203" pitchFamily="34" charset="0"/>
                </a:rPr>
                <a:t>Scenario</a:t>
              </a:r>
            </a:p>
          </p:txBody>
        </p:sp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id="{907E1DD8-E4D3-2B12-9E2E-45DA24D837D8}"/>
                </a:ext>
              </a:extLst>
            </p:cNvPr>
            <p:cNvGrpSpPr/>
            <p:nvPr/>
          </p:nvGrpSpPr>
          <p:grpSpPr>
            <a:xfrm>
              <a:off x="1364174" y="270724"/>
              <a:ext cx="6028860" cy="5079887"/>
              <a:chOff x="1029877" y="339550"/>
              <a:chExt cx="6028860" cy="5079887"/>
            </a:xfrm>
          </p:grpSpPr>
          <p:sp>
            <p:nvSpPr>
              <p:cNvPr id="6" name="Flowchart: Multidocument 5">
                <a:extLst>
                  <a:ext uri="{FF2B5EF4-FFF2-40B4-BE49-F238E27FC236}">
                    <a16:creationId xmlns:a16="http://schemas.microsoft.com/office/drawing/2014/main" id="{0E895BA0-D204-070C-2B77-1F2CF269C63B}"/>
                  </a:ext>
                </a:extLst>
              </p:cNvPr>
              <p:cNvSpPr/>
              <p:nvPr/>
            </p:nvSpPr>
            <p:spPr>
              <a:xfrm>
                <a:off x="1029877" y="2024586"/>
                <a:ext cx="1232919" cy="649649"/>
              </a:xfrm>
              <a:prstGeom prst="flowChartMultidocument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dirty="0"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Dynamic predictors</a:t>
                </a:r>
              </a:p>
            </p:txBody>
          </p:sp>
          <p:sp>
            <p:nvSpPr>
              <p:cNvPr id="7" name="Flowchart: Multidocument 6">
                <a:extLst>
                  <a:ext uri="{FF2B5EF4-FFF2-40B4-BE49-F238E27FC236}">
                    <a16:creationId xmlns:a16="http://schemas.microsoft.com/office/drawing/2014/main" id="{2EBE057C-2BFB-1377-25EB-96C50F8E6696}"/>
                  </a:ext>
                </a:extLst>
              </p:cNvPr>
              <p:cNvSpPr/>
              <p:nvPr/>
            </p:nvSpPr>
            <p:spPr>
              <a:xfrm>
                <a:off x="1079356" y="1181248"/>
                <a:ext cx="1201971" cy="645345"/>
              </a:xfrm>
              <a:prstGeom prst="flowChartMultidocument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dirty="0"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Static predictors</a:t>
                </a:r>
              </a:p>
            </p:txBody>
          </p:sp>
          <p:sp>
            <p:nvSpPr>
              <p:cNvPr id="8" name="Flowchart: Multidocument 7">
                <a:extLst>
                  <a:ext uri="{FF2B5EF4-FFF2-40B4-BE49-F238E27FC236}">
                    <a16:creationId xmlns:a16="http://schemas.microsoft.com/office/drawing/2014/main" id="{E62AA555-6398-B1C4-998C-DB2E396E34B2}"/>
                  </a:ext>
                </a:extLst>
              </p:cNvPr>
              <p:cNvSpPr/>
              <p:nvPr/>
            </p:nvSpPr>
            <p:spPr>
              <a:xfrm>
                <a:off x="2646593" y="1239613"/>
                <a:ext cx="1304027" cy="955394"/>
              </a:xfrm>
              <a:prstGeom prst="flowChartMultidocument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dirty="0"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Transition potential models</a:t>
                </a:r>
              </a:p>
            </p:txBody>
          </p:sp>
          <p:sp>
            <p:nvSpPr>
              <p:cNvPr id="10" name="Flowchart: Multidocument 9">
                <a:extLst>
                  <a:ext uri="{FF2B5EF4-FFF2-40B4-BE49-F238E27FC236}">
                    <a16:creationId xmlns:a16="http://schemas.microsoft.com/office/drawing/2014/main" id="{47DE9C19-D4D8-EDF0-8DD4-DBB34D7140A4}"/>
                  </a:ext>
                </a:extLst>
              </p:cNvPr>
              <p:cNvSpPr/>
              <p:nvPr/>
            </p:nvSpPr>
            <p:spPr>
              <a:xfrm>
                <a:off x="4252811" y="2588492"/>
                <a:ext cx="1273424" cy="879437"/>
              </a:xfrm>
              <a:prstGeom prst="flowChartMultidocument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dirty="0"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Transition potential maps</a:t>
                </a:r>
              </a:p>
            </p:txBody>
          </p:sp>
          <p:sp>
            <p:nvSpPr>
              <p:cNvPr id="11" name="Flowchart: Document 10">
                <a:extLst>
                  <a:ext uri="{FF2B5EF4-FFF2-40B4-BE49-F238E27FC236}">
                    <a16:creationId xmlns:a16="http://schemas.microsoft.com/office/drawing/2014/main" id="{E96C7314-A7AA-2970-3AA8-A374D83270E0}"/>
                  </a:ext>
                </a:extLst>
              </p:cNvPr>
              <p:cNvSpPr/>
              <p:nvPr/>
            </p:nvSpPr>
            <p:spPr>
              <a:xfrm>
                <a:off x="4275172" y="4720212"/>
                <a:ext cx="1058950" cy="699225"/>
              </a:xfrm>
              <a:prstGeom prst="flowChartDocumen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dirty="0"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Simulated LULC (</a:t>
                </a:r>
                <a:r>
                  <a:rPr lang="en-GB" sz="1200" dirty="0" err="1"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t+x</a:t>
                </a:r>
                <a:r>
                  <a:rPr lang="en-GB" sz="1517" dirty="0"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)</a:t>
                </a:r>
              </a:p>
            </p:txBody>
          </p:sp>
          <p:sp>
            <p:nvSpPr>
              <p:cNvPr id="12" name="Flowchart: Document 11">
                <a:extLst>
                  <a:ext uri="{FF2B5EF4-FFF2-40B4-BE49-F238E27FC236}">
                    <a16:creationId xmlns:a16="http://schemas.microsoft.com/office/drawing/2014/main" id="{A2525305-0B05-74CE-2861-D9F0F46F38F9}"/>
                  </a:ext>
                </a:extLst>
              </p:cNvPr>
              <p:cNvSpPr/>
              <p:nvPr/>
            </p:nvSpPr>
            <p:spPr>
              <a:xfrm>
                <a:off x="4256487" y="339550"/>
                <a:ext cx="1201970" cy="648857"/>
              </a:xfrm>
              <a:prstGeom prst="flowChartDocumen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dirty="0"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 LULC (t)</a:t>
                </a:r>
              </a:p>
            </p:txBody>
          </p:sp>
          <p:sp>
            <p:nvSpPr>
              <p:cNvPr id="13" name="Flowchart: Process 12">
                <a:extLst>
                  <a:ext uri="{FF2B5EF4-FFF2-40B4-BE49-F238E27FC236}">
                    <a16:creationId xmlns:a16="http://schemas.microsoft.com/office/drawing/2014/main" id="{35844639-55C4-6A44-6938-188C13D58C8E}"/>
                  </a:ext>
                </a:extLst>
              </p:cNvPr>
              <p:cNvSpPr/>
              <p:nvPr/>
            </p:nvSpPr>
            <p:spPr>
              <a:xfrm>
                <a:off x="4224636" y="3751684"/>
                <a:ext cx="1177911" cy="612648"/>
              </a:xfrm>
              <a:prstGeom prst="flowChartProcess">
                <a:avLst/>
              </a:prstGeom>
              <a:solidFill>
                <a:schemeClr val="bg1"/>
              </a:solidFill>
              <a:ln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dirty="0">
                    <a:solidFill>
                      <a:schemeClr val="tx1"/>
                    </a:solidFill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Transition</a:t>
                </a:r>
              </a:p>
              <a:p>
                <a:pPr algn="ctr"/>
                <a:r>
                  <a:rPr lang="en-GB" sz="1200" dirty="0">
                    <a:solidFill>
                      <a:schemeClr val="tx1"/>
                    </a:solidFill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allocation</a:t>
                </a:r>
              </a:p>
            </p:txBody>
          </p:sp>
          <p:sp>
            <p:nvSpPr>
              <p:cNvPr id="14" name="Flowchart: Process 13">
                <a:extLst>
                  <a:ext uri="{FF2B5EF4-FFF2-40B4-BE49-F238E27FC236}">
                    <a16:creationId xmlns:a16="http://schemas.microsoft.com/office/drawing/2014/main" id="{30EC2951-1D3C-ED1E-6869-C0A6A3D50711}"/>
                  </a:ext>
                </a:extLst>
              </p:cNvPr>
              <p:cNvSpPr/>
              <p:nvPr/>
            </p:nvSpPr>
            <p:spPr>
              <a:xfrm>
                <a:off x="4256487" y="1230122"/>
                <a:ext cx="1201970" cy="879436"/>
              </a:xfrm>
              <a:prstGeom prst="flowChartProcess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dirty="0">
                    <a:solidFill>
                      <a:schemeClr val="tx1"/>
                    </a:solidFill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Cellular Transition potential prediction</a:t>
                </a:r>
              </a:p>
            </p:txBody>
          </p:sp>
          <p:sp>
            <p:nvSpPr>
              <p:cNvPr id="15" name="Flowchart: Alternate Process 14">
                <a:extLst>
                  <a:ext uri="{FF2B5EF4-FFF2-40B4-BE49-F238E27FC236}">
                    <a16:creationId xmlns:a16="http://schemas.microsoft.com/office/drawing/2014/main" id="{D6D59A8C-DFF7-52B1-E8D4-6A258E33F0FD}"/>
                  </a:ext>
                </a:extLst>
              </p:cNvPr>
              <p:cNvSpPr/>
              <p:nvPr/>
            </p:nvSpPr>
            <p:spPr>
              <a:xfrm>
                <a:off x="2641344" y="2575893"/>
                <a:ext cx="1232919" cy="904637"/>
              </a:xfrm>
              <a:prstGeom prst="flowChartAlternateProcess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dirty="0">
                    <a:solidFill>
                      <a:schemeClr val="tx1"/>
                    </a:solidFill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Transition potential perturbation</a:t>
                </a:r>
              </a:p>
            </p:txBody>
          </p:sp>
          <p:sp>
            <p:nvSpPr>
              <p:cNvPr id="16" name="Flowchart: Alternate Process 15">
                <a:extLst>
                  <a:ext uri="{FF2B5EF4-FFF2-40B4-BE49-F238E27FC236}">
                    <a16:creationId xmlns:a16="http://schemas.microsoft.com/office/drawing/2014/main" id="{C9FB045D-1484-809E-7CC2-A96640575CCE}"/>
                  </a:ext>
                </a:extLst>
              </p:cNvPr>
              <p:cNvSpPr/>
              <p:nvPr/>
            </p:nvSpPr>
            <p:spPr>
              <a:xfrm>
                <a:off x="2634017" y="3707013"/>
                <a:ext cx="1207204" cy="904637"/>
              </a:xfrm>
              <a:prstGeom prst="flowChartAlternateProcess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dirty="0">
                    <a:solidFill>
                      <a:schemeClr val="tx1"/>
                    </a:solidFill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Transition occurrence rates</a:t>
                </a:r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930567D9-F389-1AC3-2A66-929493944685}"/>
                  </a:ext>
                </a:extLst>
              </p:cNvPr>
              <p:cNvCxnSpPr>
                <a:cxnSpLocks/>
                <a:stCxn id="9" idx="0"/>
                <a:endCxn id="111" idx="2"/>
              </p:cNvCxnSpPr>
              <p:nvPr/>
            </p:nvCxnSpPr>
            <p:spPr>
              <a:xfrm flipH="1" flipV="1">
                <a:off x="1568552" y="2655032"/>
                <a:ext cx="231" cy="235258"/>
              </a:xfrm>
              <a:prstGeom prst="straightConnector1">
                <a:avLst/>
              </a:prstGeom>
              <a:ln>
                <a:solidFill>
                  <a:schemeClr val="tx1">
                    <a:lumMod val="85000"/>
                    <a:lumOff val="1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C4284097-C141-3E23-D173-5C55046B4E81}"/>
                  </a:ext>
                </a:extLst>
              </p:cNvPr>
              <p:cNvCxnSpPr>
                <a:cxnSpLocks/>
                <a:stCxn id="12" idx="2"/>
                <a:endCxn id="14" idx="0"/>
              </p:cNvCxnSpPr>
              <p:nvPr/>
            </p:nvCxnSpPr>
            <p:spPr>
              <a:xfrm>
                <a:off x="4857472" y="945510"/>
                <a:ext cx="0" cy="284612"/>
              </a:xfrm>
              <a:prstGeom prst="straightConnector1">
                <a:avLst/>
              </a:prstGeom>
              <a:ln>
                <a:solidFill>
                  <a:schemeClr val="tx1">
                    <a:lumMod val="85000"/>
                    <a:lumOff val="1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Connector: Elbow 34">
                <a:extLst>
                  <a:ext uri="{FF2B5EF4-FFF2-40B4-BE49-F238E27FC236}">
                    <a16:creationId xmlns:a16="http://schemas.microsoft.com/office/drawing/2014/main" id="{9777F8F5-C9B1-EFC6-F910-AFB3D766CEF5}"/>
                  </a:ext>
                </a:extLst>
              </p:cNvPr>
              <p:cNvCxnSpPr>
                <a:cxnSpLocks/>
                <a:stCxn id="9" idx="2"/>
                <a:endCxn id="16" idx="1"/>
              </p:cNvCxnSpPr>
              <p:nvPr/>
            </p:nvCxnSpPr>
            <p:spPr>
              <a:xfrm rot="16200000" flipH="1">
                <a:off x="1919198" y="3444512"/>
                <a:ext cx="364405" cy="1065234"/>
              </a:xfrm>
              <a:prstGeom prst="bentConnector2">
                <a:avLst/>
              </a:prstGeom>
              <a:ln>
                <a:solidFill>
                  <a:schemeClr val="tx1">
                    <a:lumMod val="85000"/>
                    <a:lumOff val="1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E681C5EB-A555-A3AF-2859-53913EEF7EEC}"/>
                  </a:ext>
                </a:extLst>
              </p:cNvPr>
              <p:cNvCxnSpPr>
                <a:cxnSpLocks/>
                <a:stCxn id="15" idx="3"/>
                <a:endCxn id="10" idx="1"/>
              </p:cNvCxnSpPr>
              <p:nvPr/>
            </p:nvCxnSpPr>
            <p:spPr>
              <a:xfrm flipV="1">
                <a:off x="3874263" y="3028211"/>
                <a:ext cx="378548" cy="1"/>
              </a:xfrm>
              <a:prstGeom prst="straightConnector1">
                <a:avLst/>
              </a:prstGeom>
              <a:ln>
                <a:solidFill>
                  <a:schemeClr val="tx1">
                    <a:lumMod val="85000"/>
                    <a:lumOff val="1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83D955EA-2DB1-8969-2627-ED17E3879356}"/>
                  </a:ext>
                </a:extLst>
              </p:cNvPr>
              <p:cNvCxnSpPr>
                <a:cxnSpLocks/>
                <a:endCxn id="13" idx="1"/>
              </p:cNvCxnSpPr>
              <p:nvPr/>
            </p:nvCxnSpPr>
            <p:spPr>
              <a:xfrm>
                <a:off x="3879511" y="4058008"/>
                <a:ext cx="345125" cy="0"/>
              </a:xfrm>
              <a:prstGeom prst="straightConnector1">
                <a:avLst/>
              </a:prstGeom>
              <a:ln>
                <a:solidFill>
                  <a:schemeClr val="tx1">
                    <a:lumMod val="85000"/>
                    <a:lumOff val="1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" name="Straight Arrow Connector 66">
                <a:extLst>
                  <a:ext uri="{FF2B5EF4-FFF2-40B4-BE49-F238E27FC236}">
                    <a16:creationId xmlns:a16="http://schemas.microsoft.com/office/drawing/2014/main" id="{19FBC0E7-49AD-B21C-82C4-4BD91F9C43B8}"/>
                  </a:ext>
                </a:extLst>
              </p:cNvPr>
              <p:cNvCxnSpPr>
                <a:cxnSpLocks/>
                <a:stCxn id="10" idx="2"/>
                <a:endCxn id="13" idx="0"/>
              </p:cNvCxnSpPr>
              <p:nvPr/>
            </p:nvCxnSpPr>
            <p:spPr>
              <a:xfrm>
                <a:off x="4800973" y="3434624"/>
                <a:ext cx="12619" cy="317060"/>
              </a:xfrm>
              <a:prstGeom prst="straightConnector1">
                <a:avLst/>
              </a:prstGeom>
              <a:ln>
                <a:solidFill>
                  <a:schemeClr val="tx1">
                    <a:lumMod val="85000"/>
                    <a:lumOff val="1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6" name="Straight Arrow Connector 75">
                <a:extLst>
                  <a:ext uri="{FF2B5EF4-FFF2-40B4-BE49-F238E27FC236}">
                    <a16:creationId xmlns:a16="http://schemas.microsoft.com/office/drawing/2014/main" id="{5562BAE5-044B-BC92-232A-E894ED2EA21F}"/>
                  </a:ext>
                </a:extLst>
              </p:cNvPr>
              <p:cNvCxnSpPr>
                <a:cxnSpLocks/>
                <a:stCxn id="14" idx="2"/>
              </p:cNvCxnSpPr>
              <p:nvPr/>
            </p:nvCxnSpPr>
            <p:spPr>
              <a:xfrm>
                <a:off x="4857472" y="2109558"/>
                <a:ext cx="0" cy="496914"/>
              </a:xfrm>
              <a:prstGeom prst="straightConnector1">
                <a:avLst/>
              </a:prstGeom>
              <a:ln>
                <a:solidFill>
                  <a:schemeClr val="tx1">
                    <a:lumMod val="85000"/>
                    <a:lumOff val="1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9" name="Straight Arrow Connector 78">
                <a:extLst>
                  <a:ext uri="{FF2B5EF4-FFF2-40B4-BE49-F238E27FC236}">
                    <a16:creationId xmlns:a16="http://schemas.microsoft.com/office/drawing/2014/main" id="{1EAB6A18-7E29-F4B8-738D-43339DFFA246}"/>
                  </a:ext>
                </a:extLst>
              </p:cNvPr>
              <p:cNvCxnSpPr>
                <a:cxnSpLocks/>
                <a:stCxn id="85" idx="1"/>
                <a:endCxn id="13" idx="3"/>
              </p:cNvCxnSpPr>
              <p:nvPr/>
            </p:nvCxnSpPr>
            <p:spPr>
              <a:xfrm flipH="1">
                <a:off x="5402547" y="4058008"/>
                <a:ext cx="352164" cy="0"/>
              </a:xfrm>
              <a:prstGeom prst="straightConnector1">
                <a:avLst/>
              </a:prstGeom>
              <a:ln>
                <a:solidFill>
                  <a:schemeClr val="tx1">
                    <a:lumMod val="85000"/>
                    <a:lumOff val="1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5" name="Flowchart: Document 84">
                <a:extLst>
                  <a:ext uri="{FF2B5EF4-FFF2-40B4-BE49-F238E27FC236}">
                    <a16:creationId xmlns:a16="http://schemas.microsoft.com/office/drawing/2014/main" id="{7693D491-728F-C110-0C72-183A2513B8CC}"/>
                  </a:ext>
                </a:extLst>
              </p:cNvPr>
              <p:cNvSpPr/>
              <p:nvPr/>
            </p:nvSpPr>
            <p:spPr>
              <a:xfrm>
                <a:off x="5754711" y="3761657"/>
                <a:ext cx="1304026" cy="592702"/>
              </a:xfrm>
              <a:prstGeom prst="flowChartDocumen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dirty="0"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Allocation</a:t>
                </a:r>
              </a:p>
              <a:p>
                <a:pPr algn="ctr"/>
                <a:r>
                  <a:rPr lang="en-GB" sz="1200" dirty="0"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parameters</a:t>
                </a:r>
              </a:p>
            </p:txBody>
          </p:sp>
          <p:cxnSp>
            <p:nvCxnSpPr>
              <p:cNvPr id="92" name="Straight Arrow Connector 91">
                <a:extLst>
                  <a:ext uri="{FF2B5EF4-FFF2-40B4-BE49-F238E27FC236}">
                    <a16:creationId xmlns:a16="http://schemas.microsoft.com/office/drawing/2014/main" id="{4655569D-FA15-9E7B-BEE9-0126D8DB8CB2}"/>
                  </a:ext>
                </a:extLst>
              </p:cNvPr>
              <p:cNvCxnSpPr>
                <a:cxnSpLocks/>
                <a:stCxn id="13" idx="2"/>
                <a:endCxn id="11" idx="0"/>
              </p:cNvCxnSpPr>
              <p:nvPr/>
            </p:nvCxnSpPr>
            <p:spPr>
              <a:xfrm flipH="1">
                <a:off x="4804647" y="4364332"/>
                <a:ext cx="8945" cy="355880"/>
              </a:xfrm>
              <a:prstGeom prst="straightConnector1">
                <a:avLst/>
              </a:prstGeom>
              <a:ln>
                <a:solidFill>
                  <a:schemeClr val="tx1">
                    <a:lumMod val="85000"/>
                    <a:lumOff val="1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85E064B7-1CEF-4F9E-9F17-B8AC0C7EE38E}"/>
                </a:ext>
              </a:extLst>
            </p:cNvPr>
            <p:cNvCxnSpPr>
              <a:cxnSpLocks/>
            </p:cNvCxnSpPr>
            <p:nvPr/>
          </p:nvCxnSpPr>
          <p:spPr>
            <a:xfrm>
              <a:off x="4303450" y="1591342"/>
              <a:ext cx="287334" cy="0"/>
            </a:xfrm>
            <a:prstGeom prst="straightConnector1">
              <a:avLst/>
            </a:prstGeom>
            <a:ln>
              <a:solidFill>
                <a:schemeClr val="tx1">
                  <a:lumMod val="85000"/>
                  <a:lumOff val="1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Connector: Elbow 99">
              <a:extLst>
                <a:ext uri="{FF2B5EF4-FFF2-40B4-BE49-F238E27FC236}">
                  <a16:creationId xmlns:a16="http://schemas.microsoft.com/office/drawing/2014/main" id="{DA48E9B8-0401-4737-98CC-2DB3CFEC8901}"/>
                </a:ext>
              </a:extLst>
            </p:cNvPr>
            <p:cNvCxnSpPr>
              <a:cxnSpLocks/>
              <a:stCxn id="7" idx="3"/>
              <a:endCxn id="104" idx="1"/>
            </p:cNvCxnSpPr>
            <p:nvPr/>
          </p:nvCxnSpPr>
          <p:spPr>
            <a:xfrm>
              <a:off x="2615624" y="1435095"/>
              <a:ext cx="347168" cy="325937"/>
            </a:xfrm>
            <a:prstGeom prst="bentConnector3">
              <a:avLst/>
            </a:prstGeom>
            <a:ln w="952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2" name="Connector: Elbow 101">
              <a:extLst>
                <a:ext uri="{FF2B5EF4-FFF2-40B4-BE49-F238E27FC236}">
                  <a16:creationId xmlns:a16="http://schemas.microsoft.com/office/drawing/2014/main" id="{9323BBA6-2ACF-46F5-A8A9-869ACC2084E9}"/>
                </a:ext>
              </a:extLst>
            </p:cNvPr>
            <p:cNvCxnSpPr>
              <a:cxnSpLocks/>
              <a:stCxn id="6" idx="3"/>
              <a:endCxn id="104" idx="1"/>
            </p:cNvCxnSpPr>
            <p:nvPr/>
          </p:nvCxnSpPr>
          <p:spPr>
            <a:xfrm flipV="1">
              <a:off x="2597093" y="1761032"/>
              <a:ext cx="365699" cy="519553"/>
            </a:xfrm>
            <a:prstGeom prst="bentConnector3">
              <a:avLst>
                <a:gd name="adj1" fmla="val 51954"/>
              </a:avLst>
            </a:prstGeom>
            <a:ln w="952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5209C1E7-4BA0-4917-A84C-E722F35D1854}"/>
                </a:ext>
              </a:extLst>
            </p:cNvPr>
            <p:cNvSpPr/>
            <p:nvPr/>
          </p:nvSpPr>
          <p:spPr>
            <a:xfrm>
              <a:off x="2962792" y="1738172"/>
              <a:ext cx="45719" cy="45719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1" name="Rectangle 110">
              <a:extLst>
                <a:ext uri="{FF2B5EF4-FFF2-40B4-BE49-F238E27FC236}">
                  <a16:creationId xmlns:a16="http://schemas.microsoft.com/office/drawing/2014/main" id="{E7E05B8D-4A8B-4C61-A749-56851A66FBE4}"/>
                </a:ext>
              </a:extLst>
            </p:cNvPr>
            <p:cNvSpPr/>
            <p:nvPr/>
          </p:nvSpPr>
          <p:spPr>
            <a:xfrm>
              <a:off x="1879989" y="2540487"/>
              <a:ext cx="45719" cy="45719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115" name="Connector: Elbow 114">
              <a:extLst>
                <a:ext uri="{FF2B5EF4-FFF2-40B4-BE49-F238E27FC236}">
                  <a16:creationId xmlns:a16="http://schemas.microsoft.com/office/drawing/2014/main" id="{E8322900-7132-4B2A-9D44-B08581CDA849}"/>
                </a:ext>
              </a:extLst>
            </p:cNvPr>
            <p:cNvCxnSpPr>
              <a:stCxn id="9" idx="3"/>
              <a:endCxn id="15" idx="1"/>
            </p:cNvCxnSpPr>
            <p:nvPr/>
          </p:nvCxnSpPr>
          <p:spPr>
            <a:xfrm flipV="1">
              <a:off x="2658021" y="2959386"/>
              <a:ext cx="317620" cy="314397"/>
            </a:xfrm>
            <a:prstGeom prst="bentConnector3">
              <a:avLst>
                <a:gd name="adj1" fmla="val 50000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425893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74</Words>
  <Application>Microsoft Office PowerPoint</Application>
  <PresentationFormat>A4 Paper (210x297 mm)</PresentationFormat>
  <Paragraphs>28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Calibri</vt:lpstr>
      <vt:lpstr>Calibri Light</vt:lpstr>
      <vt:lpstr>Lato Light</vt:lpstr>
      <vt:lpstr>Office Theme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Black  Benjamin</dc:creator>
  <cp:lastModifiedBy>Black  Benjamin</cp:lastModifiedBy>
  <cp:revision>53</cp:revision>
  <dcterms:created xsi:type="dcterms:W3CDTF">2022-04-14T08:42:49Z</dcterms:created>
  <dcterms:modified xsi:type="dcterms:W3CDTF">2022-11-25T16:52:09Z</dcterms:modified>
</cp:coreProperties>
</file>