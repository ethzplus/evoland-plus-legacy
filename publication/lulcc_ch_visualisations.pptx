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gure_1_V1" id="{423FCDDB-C47F-4456-BCC4-D52F9D024FCB}">
          <p14:sldIdLst>
            <p14:sldId id="257"/>
          </p14:sldIdLst>
        </p14:section>
        <p14:section name="Figure_1_V2" id="{88CEF7F3-5306-4F60-8BAE-61A82305E89F}">
          <p14:sldIdLst>
            <p14:sldId id="258"/>
          </p14:sldIdLst>
        </p14:section>
        <p14:section name="Figure_1_V3" id="{3643DD0F-E73D-42D1-B626-B800E1DF4D02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9EE"/>
    <a:srgbClr val="D6DCE4"/>
    <a:srgbClr val="ACB9CA"/>
    <a:srgbClr val="8497B0"/>
    <a:srgbClr val="333F4F"/>
    <a:srgbClr val="222B35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82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40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0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94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62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18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29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0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92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21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45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02E74-1BEC-4682-B539-13A15FE70A36}" type="datetimeFigureOut">
              <a:rPr lang="en-GB" smtClean="0"/>
              <a:t>02/05/2023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EE93A-5D7F-45E3-9A29-AF2FD327A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0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5BA7C23E-6197-BC23-1BB2-2F2B5D74121C}"/>
              </a:ext>
            </a:extLst>
          </p:cNvPr>
          <p:cNvGrpSpPr/>
          <p:nvPr/>
        </p:nvGrpSpPr>
        <p:grpSpPr>
          <a:xfrm>
            <a:off x="1135389" y="766038"/>
            <a:ext cx="6440900" cy="5239347"/>
            <a:chOff x="801092" y="834864"/>
            <a:chExt cx="6440900" cy="5239347"/>
          </a:xfrm>
        </p:grpSpPr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9BAB24E8-6FA0-8716-84A0-D2CA1E975C22}"/>
                </a:ext>
              </a:extLst>
            </p:cNvPr>
            <p:cNvSpPr/>
            <p:nvPr/>
          </p:nvSpPr>
          <p:spPr>
            <a:xfrm>
              <a:off x="801092" y="2863100"/>
              <a:ext cx="1528415" cy="1284772"/>
            </a:xfrm>
            <a:prstGeom prst="flowChartDecis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Scenario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907E1DD8-E4D3-2B12-9E2E-45DA24D837D8}"/>
                </a:ext>
              </a:extLst>
            </p:cNvPr>
            <p:cNvGrpSpPr/>
            <p:nvPr/>
          </p:nvGrpSpPr>
          <p:grpSpPr>
            <a:xfrm>
              <a:off x="1565300" y="834864"/>
              <a:ext cx="5676692" cy="5239347"/>
              <a:chOff x="1565300" y="834864"/>
              <a:chExt cx="5676692" cy="5239347"/>
            </a:xfrm>
          </p:grpSpPr>
          <p:sp>
            <p:nvSpPr>
              <p:cNvPr id="6" name="Flowchart: Multidocument 5">
                <a:extLst>
                  <a:ext uri="{FF2B5EF4-FFF2-40B4-BE49-F238E27FC236}">
                    <a16:creationId xmlns:a16="http://schemas.microsoft.com/office/drawing/2014/main" id="{0E895BA0-D204-070C-2B77-1F2CF269C63B}"/>
                  </a:ext>
                </a:extLst>
              </p:cNvPr>
              <p:cNvSpPr/>
              <p:nvPr/>
            </p:nvSpPr>
            <p:spPr>
              <a:xfrm>
                <a:off x="2646594" y="1941940"/>
                <a:ext cx="1232919" cy="649649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Dynamic predictors</a:t>
                </a:r>
              </a:p>
            </p:txBody>
          </p:sp>
          <p:sp>
            <p:nvSpPr>
              <p:cNvPr id="7" name="Flowchart: Multidocument 6">
                <a:extLst>
                  <a:ext uri="{FF2B5EF4-FFF2-40B4-BE49-F238E27FC236}">
                    <a16:creationId xmlns:a16="http://schemas.microsoft.com/office/drawing/2014/main" id="{2EBE057C-2BFB-1377-25EB-96C50F8E6696}"/>
                  </a:ext>
                </a:extLst>
              </p:cNvPr>
              <p:cNvSpPr/>
              <p:nvPr/>
            </p:nvSpPr>
            <p:spPr>
              <a:xfrm>
                <a:off x="5937965" y="2461881"/>
                <a:ext cx="1304027" cy="879436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Static predictors</a:t>
                </a:r>
              </a:p>
            </p:txBody>
          </p:sp>
          <p:sp>
            <p:nvSpPr>
              <p:cNvPr id="8" name="Flowchart: Multidocument 7">
                <a:extLst>
                  <a:ext uri="{FF2B5EF4-FFF2-40B4-BE49-F238E27FC236}">
                    <a16:creationId xmlns:a16="http://schemas.microsoft.com/office/drawing/2014/main" id="{E62AA555-6398-B1C4-998C-DB2E396E34B2}"/>
                  </a:ext>
                </a:extLst>
              </p:cNvPr>
              <p:cNvSpPr/>
              <p:nvPr/>
            </p:nvSpPr>
            <p:spPr>
              <a:xfrm>
                <a:off x="5937965" y="1237311"/>
                <a:ext cx="1304027" cy="955394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models</a:t>
                </a:r>
              </a:p>
            </p:txBody>
          </p:sp>
          <p:sp>
            <p:nvSpPr>
              <p:cNvPr id="10" name="Flowchart: Multidocument 9">
                <a:extLst>
                  <a:ext uri="{FF2B5EF4-FFF2-40B4-BE49-F238E27FC236}">
                    <a16:creationId xmlns:a16="http://schemas.microsoft.com/office/drawing/2014/main" id="{47DE9C19-D4D8-EDF0-8DD4-DBB34D7140A4}"/>
                  </a:ext>
                </a:extLst>
              </p:cNvPr>
              <p:cNvSpPr/>
              <p:nvPr/>
            </p:nvSpPr>
            <p:spPr>
              <a:xfrm>
                <a:off x="4256487" y="3075060"/>
                <a:ext cx="1273424" cy="879437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maps</a:t>
                </a:r>
              </a:p>
            </p:txBody>
          </p:sp>
          <p:sp>
            <p:nvSpPr>
              <p:cNvPr id="11" name="Flowchart: Document 10">
                <a:extLst>
                  <a:ext uri="{FF2B5EF4-FFF2-40B4-BE49-F238E27FC236}">
                    <a16:creationId xmlns:a16="http://schemas.microsoft.com/office/drawing/2014/main" id="{E96C7314-A7AA-2970-3AA8-A374D83270E0}"/>
                  </a:ext>
                </a:extLst>
              </p:cNvPr>
              <p:cNvSpPr/>
              <p:nvPr/>
            </p:nvSpPr>
            <p:spPr>
              <a:xfrm>
                <a:off x="4284118" y="5374986"/>
                <a:ext cx="1058950" cy="699225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Simulated LULC (t+5</a:t>
                </a:r>
                <a:r>
                  <a:rPr lang="en-GB" sz="1517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)</a:t>
                </a:r>
              </a:p>
            </p:txBody>
          </p:sp>
          <p:sp>
            <p:nvSpPr>
              <p:cNvPr id="12" name="Flowchart: Document 11">
                <a:extLst>
                  <a:ext uri="{FF2B5EF4-FFF2-40B4-BE49-F238E27FC236}">
                    <a16:creationId xmlns:a16="http://schemas.microsoft.com/office/drawing/2014/main" id="{A2525305-0B05-74CE-2861-D9F0F46F38F9}"/>
                  </a:ext>
                </a:extLst>
              </p:cNvPr>
              <p:cNvSpPr/>
              <p:nvPr/>
            </p:nvSpPr>
            <p:spPr>
              <a:xfrm>
                <a:off x="4256487" y="834864"/>
                <a:ext cx="1201970" cy="648857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LULC (t)</a:t>
                </a:r>
              </a:p>
            </p:txBody>
          </p:sp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35844639-55C4-6A44-6938-188C13D58C8E}"/>
                  </a:ext>
                </a:extLst>
              </p:cNvPr>
              <p:cNvSpPr/>
              <p:nvPr/>
            </p:nvSpPr>
            <p:spPr>
              <a:xfrm>
                <a:off x="4224638" y="4428676"/>
                <a:ext cx="1177911" cy="612648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allocation</a:t>
                </a:r>
              </a:p>
            </p:txBody>
          </p:sp>
          <p:sp>
            <p:nvSpPr>
              <p:cNvPr id="14" name="Flowchart: Process 13">
                <a:extLst>
                  <a:ext uri="{FF2B5EF4-FFF2-40B4-BE49-F238E27FC236}">
                    <a16:creationId xmlns:a16="http://schemas.microsoft.com/office/drawing/2014/main" id="{30EC2951-1D3C-ED1E-6869-C0A6A3D50711}"/>
                  </a:ext>
                </a:extLst>
              </p:cNvPr>
              <p:cNvSpPr/>
              <p:nvPr/>
            </p:nvSpPr>
            <p:spPr>
              <a:xfrm>
                <a:off x="4256487" y="1808545"/>
                <a:ext cx="1201970" cy="87943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Cellular Transition potential prediction</a:t>
                </a:r>
              </a:p>
            </p:txBody>
          </p:sp>
          <p:sp>
            <p:nvSpPr>
              <p:cNvPr id="15" name="Flowchart: Alternate Process 14">
                <a:extLst>
                  <a:ext uri="{FF2B5EF4-FFF2-40B4-BE49-F238E27FC236}">
                    <a16:creationId xmlns:a16="http://schemas.microsoft.com/office/drawing/2014/main" id="{D6D59A8C-DFF7-52B1-E8D4-6A258E33F0FD}"/>
                  </a:ext>
                </a:extLst>
              </p:cNvPr>
              <p:cNvSpPr/>
              <p:nvPr/>
            </p:nvSpPr>
            <p:spPr>
              <a:xfrm>
                <a:off x="2646594" y="3053167"/>
                <a:ext cx="1232919" cy="904637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perturbation</a:t>
                </a:r>
              </a:p>
            </p:txBody>
          </p:sp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C9FB045D-1484-809E-7CC2-A96640575CCE}"/>
                  </a:ext>
                </a:extLst>
              </p:cNvPr>
              <p:cNvSpPr/>
              <p:nvPr/>
            </p:nvSpPr>
            <p:spPr>
              <a:xfrm>
                <a:off x="2646595" y="4266412"/>
                <a:ext cx="1207204" cy="904637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occurrence rates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30567D9-F389-1AC3-2A66-929493944685}"/>
                  </a:ext>
                </a:extLst>
              </p:cNvPr>
              <p:cNvCxnSpPr>
                <a:cxnSpLocks/>
                <a:stCxn id="6" idx="3"/>
                <a:endCxn id="14" idx="1"/>
              </p:cNvCxnSpPr>
              <p:nvPr/>
            </p:nvCxnSpPr>
            <p:spPr>
              <a:xfrm flipV="1">
                <a:off x="3879513" y="2248263"/>
                <a:ext cx="376974" cy="18502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4284097-C141-3E23-D173-5C55046B4E81}"/>
                  </a:ext>
                </a:extLst>
              </p:cNvPr>
              <p:cNvCxnSpPr>
                <a:cxnSpLocks/>
                <a:stCxn id="12" idx="2"/>
                <a:endCxn id="14" idx="0"/>
              </p:cNvCxnSpPr>
              <p:nvPr/>
            </p:nvCxnSpPr>
            <p:spPr>
              <a:xfrm>
                <a:off x="4857472" y="1440824"/>
                <a:ext cx="0" cy="367721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A2D95579-0F4C-066D-3E42-FBFD7BF278D3}"/>
                  </a:ext>
                </a:extLst>
              </p:cNvPr>
              <p:cNvCxnSpPr>
                <a:stCxn id="9" idx="0"/>
                <a:endCxn id="6" idx="1"/>
              </p:cNvCxnSpPr>
              <p:nvPr/>
            </p:nvCxnSpPr>
            <p:spPr>
              <a:xfrm rot="5400000" flipH="1" flipV="1">
                <a:off x="1807780" y="2024286"/>
                <a:ext cx="596335" cy="1081294"/>
              </a:xfrm>
              <a:prstGeom prst="bentConnector2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: Elbow 30">
                <a:extLst>
                  <a:ext uri="{FF2B5EF4-FFF2-40B4-BE49-F238E27FC236}">
                    <a16:creationId xmlns:a16="http://schemas.microsoft.com/office/drawing/2014/main" id="{85BD8170-0AA0-5374-D7DC-A2FD220A6FB7}"/>
                  </a:ext>
                </a:extLst>
              </p:cNvPr>
              <p:cNvCxnSpPr>
                <a:cxnSpLocks/>
                <a:stCxn id="8" idx="1"/>
                <a:endCxn id="14" idx="3"/>
              </p:cNvCxnSpPr>
              <p:nvPr/>
            </p:nvCxnSpPr>
            <p:spPr>
              <a:xfrm rot="10800000" flipV="1">
                <a:off x="5458457" y="1715007"/>
                <a:ext cx="479508" cy="533255"/>
              </a:xfrm>
              <a:prstGeom prst="bentConnector3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E4210A09-6343-F925-034C-F7AC6CAF4F3A}"/>
                  </a:ext>
                </a:extLst>
              </p:cNvPr>
              <p:cNvCxnSpPr>
                <a:cxnSpLocks/>
                <a:stCxn id="7" idx="1"/>
                <a:endCxn id="14" idx="3"/>
              </p:cNvCxnSpPr>
              <p:nvPr/>
            </p:nvCxnSpPr>
            <p:spPr>
              <a:xfrm rot="10800000">
                <a:off x="5458457" y="2248263"/>
                <a:ext cx="479508" cy="653336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or: Elbow 34">
                <a:extLst>
                  <a:ext uri="{FF2B5EF4-FFF2-40B4-BE49-F238E27FC236}">
                    <a16:creationId xmlns:a16="http://schemas.microsoft.com/office/drawing/2014/main" id="{9777F8F5-C9B1-EFC6-F910-AFB3D766CEF5}"/>
                  </a:ext>
                </a:extLst>
              </p:cNvPr>
              <p:cNvCxnSpPr>
                <a:cxnSpLocks/>
                <a:stCxn id="9" idx="2"/>
                <a:endCxn id="16" idx="1"/>
              </p:cNvCxnSpPr>
              <p:nvPr/>
            </p:nvCxnSpPr>
            <p:spPr>
              <a:xfrm rot="16200000" flipH="1">
                <a:off x="1820518" y="3892653"/>
                <a:ext cx="570859" cy="1081295"/>
              </a:xfrm>
              <a:prstGeom prst="bentConnector2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A41EB6C-54D9-3328-735D-F058A6819B23}"/>
                  </a:ext>
                </a:extLst>
              </p:cNvPr>
              <p:cNvCxnSpPr>
                <a:cxnSpLocks/>
                <a:stCxn id="9" idx="3"/>
                <a:endCxn id="15" idx="1"/>
              </p:cNvCxnSpPr>
              <p:nvPr/>
            </p:nvCxnSpPr>
            <p:spPr>
              <a:xfrm>
                <a:off x="2329507" y="3505486"/>
                <a:ext cx="317087" cy="0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681C5EB-A555-A3AF-2859-53913EEF7EEC}"/>
                  </a:ext>
                </a:extLst>
              </p:cNvPr>
              <p:cNvCxnSpPr>
                <a:cxnSpLocks/>
                <a:stCxn id="15" idx="3"/>
                <a:endCxn id="10" idx="1"/>
              </p:cNvCxnSpPr>
              <p:nvPr/>
            </p:nvCxnSpPr>
            <p:spPr>
              <a:xfrm>
                <a:off x="3879513" y="3505486"/>
                <a:ext cx="376974" cy="9293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3D955EA-2DB1-8969-2627-ED17E3879356}"/>
                  </a:ext>
                </a:extLst>
              </p:cNvPr>
              <p:cNvCxnSpPr>
                <a:cxnSpLocks/>
                <a:stCxn id="16" idx="3"/>
                <a:endCxn id="13" idx="1"/>
              </p:cNvCxnSpPr>
              <p:nvPr/>
            </p:nvCxnSpPr>
            <p:spPr>
              <a:xfrm>
                <a:off x="3853799" y="4718731"/>
                <a:ext cx="370839" cy="16269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9FBC0E7-49AD-B21C-82C4-4BD91F9C43B8}"/>
                  </a:ext>
                </a:extLst>
              </p:cNvPr>
              <p:cNvCxnSpPr>
                <a:cxnSpLocks/>
                <a:stCxn id="10" idx="2"/>
                <a:endCxn id="13" idx="0"/>
              </p:cNvCxnSpPr>
              <p:nvPr/>
            </p:nvCxnSpPr>
            <p:spPr>
              <a:xfrm>
                <a:off x="4804649" y="3921192"/>
                <a:ext cx="8945" cy="507484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562BAE5-044B-BC92-232A-E894ED2EA21F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>
                <a:off x="4857472" y="2687981"/>
                <a:ext cx="0" cy="424916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1EAB6A18-7E29-F4B8-738D-43339DFFA246}"/>
                  </a:ext>
                </a:extLst>
              </p:cNvPr>
              <p:cNvCxnSpPr>
                <a:cxnSpLocks/>
                <a:stCxn id="85" idx="1"/>
                <a:endCxn id="13" idx="3"/>
              </p:cNvCxnSpPr>
              <p:nvPr/>
            </p:nvCxnSpPr>
            <p:spPr>
              <a:xfrm flipH="1" flipV="1">
                <a:off x="5402549" y="4735000"/>
                <a:ext cx="459296" cy="9973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Flowchart: Document 84">
                <a:extLst>
                  <a:ext uri="{FF2B5EF4-FFF2-40B4-BE49-F238E27FC236}">
                    <a16:creationId xmlns:a16="http://schemas.microsoft.com/office/drawing/2014/main" id="{7693D491-728F-C110-0C72-183A2513B8CC}"/>
                  </a:ext>
                </a:extLst>
              </p:cNvPr>
              <p:cNvSpPr/>
              <p:nvPr/>
            </p:nvSpPr>
            <p:spPr>
              <a:xfrm>
                <a:off x="5861845" y="4448622"/>
                <a:ext cx="1304026" cy="592702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Allocation</a:t>
                </a:r>
              </a:p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parameters</a:t>
                </a:r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4655569D-FA15-9E7B-BEE9-0126D8DB8CB2}"/>
                  </a:ext>
                </a:extLst>
              </p:cNvPr>
              <p:cNvCxnSpPr>
                <a:cxnSpLocks/>
                <a:stCxn id="13" idx="2"/>
                <a:endCxn id="11" idx="0"/>
              </p:cNvCxnSpPr>
              <p:nvPr/>
            </p:nvCxnSpPr>
            <p:spPr>
              <a:xfrm flipH="1">
                <a:off x="4813593" y="5041324"/>
                <a:ext cx="1" cy="333662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3882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03F4BD4-ECE4-484E-83B0-DE81C525BC35}"/>
              </a:ext>
            </a:extLst>
          </p:cNvPr>
          <p:cNvGrpSpPr/>
          <p:nvPr/>
        </p:nvGrpSpPr>
        <p:grpSpPr>
          <a:xfrm>
            <a:off x="1148138" y="270724"/>
            <a:ext cx="6244896" cy="5079887"/>
            <a:chOff x="1148138" y="270724"/>
            <a:chExt cx="6244896" cy="5079887"/>
          </a:xfrm>
        </p:grpSpPr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9BAB24E8-6FA0-8716-84A0-D2CA1E975C22}"/>
                </a:ext>
              </a:extLst>
            </p:cNvPr>
            <p:cNvSpPr/>
            <p:nvPr/>
          </p:nvSpPr>
          <p:spPr>
            <a:xfrm>
              <a:off x="1148138" y="2821464"/>
              <a:ext cx="1509883" cy="904637"/>
            </a:xfrm>
            <a:prstGeom prst="flowChartDecis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Scenario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907E1DD8-E4D3-2B12-9E2E-45DA24D837D8}"/>
                </a:ext>
              </a:extLst>
            </p:cNvPr>
            <p:cNvGrpSpPr/>
            <p:nvPr/>
          </p:nvGrpSpPr>
          <p:grpSpPr>
            <a:xfrm>
              <a:off x="1364174" y="270724"/>
              <a:ext cx="6028860" cy="5079887"/>
              <a:chOff x="1029877" y="339550"/>
              <a:chExt cx="6028860" cy="5079887"/>
            </a:xfrm>
          </p:grpSpPr>
          <p:sp>
            <p:nvSpPr>
              <p:cNvPr id="6" name="Flowchart: Multidocument 5">
                <a:extLst>
                  <a:ext uri="{FF2B5EF4-FFF2-40B4-BE49-F238E27FC236}">
                    <a16:creationId xmlns:a16="http://schemas.microsoft.com/office/drawing/2014/main" id="{0E895BA0-D204-070C-2B77-1F2CF269C63B}"/>
                  </a:ext>
                </a:extLst>
              </p:cNvPr>
              <p:cNvSpPr/>
              <p:nvPr/>
            </p:nvSpPr>
            <p:spPr>
              <a:xfrm>
                <a:off x="1029877" y="2024586"/>
                <a:ext cx="1232919" cy="649649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Dynamic predictors</a:t>
                </a:r>
              </a:p>
            </p:txBody>
          </p:sp>
          <p:sp>
            <p:nvSpPr>
              <p:cNvPr id="7" name="Flowchart: Multidocument 6">
                <a:extLst>
                  <a:ext uri="{FF2B5EF4-FFF2-40B4-BE49-F238E27FC236}">
                    <a16:creationId xmlns:a16="http://schemas.microsoft.com/office/drawing/2014/main" id="{2EBE057C-2BFB-1377-25EB-96C50F8E6696}"/>
                  </a:ext>
                </a:extLst>
              </p:cNvPr>
              <p:cNvSpPr/>
              <p:nvPr/>
            </p:nvSpPr>
            <p:spPr>
              <a:xfrm>
                <a:off x="1079356" y="1181248"/>
                <a:ext cx="1201971" cy="645345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Static predictors</a:t>
                </a:r>
              </a:p>
            </p:txBody>
          </p:sp>
          <p:sp>
            <p:nvSpPr>
              <p:cNvPr id="8" name="Flowchart: Multidocument 7">
                <a:extLst>
                  <a:ext uri="{FF2B5EF4-FFF2-40B4-BE49-F238E27FC236}">
                    <a16:creationId xmlns:a16="http://schemas.microsoft.com/office/drawing/2014/main" id="{E62AA555-6398-B1C4-998C-DB2E396E34B2}"/>
                  </a:ext>
                </a:extLst>
              </p:cNvPr>
              <p:cNvSpPr/>
              <p:nvPr/>
            </p:nvSpPr>
            <p:spPr>
              <a:xfrm>
                <a:off x="2646593" y="1239613"/>
                <a:ext cx="1304027" cy="955394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models</a:t>
                </a:r>
              </a:p>
            </p:txBody>
          </p:sp>
          <p:sp>
            <p:nvSpPr>
              <p:cNvPr id="10" name="Flowchart: Multidocument 9">
                <a:extLst>
                  <a:ext uri="{FF2B5EF4-FFF2-40B4-BE49-F238E27FC236}">
                    <a16:creationId xmlns:a16="http://schemas.microsoft.com/office/drawing/2014/main" id="{47DE9C19-D4D8-EDF0-8DD4-DBB34D7140A4}"/>
                  </a:ext>
                </a:extLst>
              </p:cNvPr>
              <p:cNvSpPr/>
              <p:nvPr/>
            </p:nvSpPr>
            <p:spPr>
              <a:xfrm>
                <a:off x="4252811" y="2588492"/>
                <a:ext cx="1273424" cy="879437"/>
              </a:xfrm>
              <a:prstGeom prst="flowChartMultidocumen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maps</a:t>
                </a:r>
              </a:p>
            </p:txBody>
          </p:sp>
          <p:sp>
            <p:nvSpPr>
              <p:cNvPr id="11" name="Flowchart: Document 10">
                <a:extLst>
                  <a:ext uri="{FF2B5EF4-FFF2-40B4-BE49-F238E27FC236}">
                    <a16:creationId xmlns:a16="http://schemas.microsoft.com/office/drawing/2014/main" id="{E96C7314-A7AA-2970-3AA8-A374D83270E0}"/>
                  </a:ext>
                </a:extLst>
              </p:cNvPr>
              <p:cNvSpPr/>
              <p:nvPr/>
            </p:nvSpPr>
            <p:spPr>
              <a:xfrm>
                <a:off x="4275172" y="4720212"/>
                <a:ext cx="1058950" cy="699225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Simulated LULC (</a:t>
                </a:r>
                <a:r>
                  <a:rPr lang="en-GB" sz="1200" dirty="0" err="1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t+x</a:t>
                </a:r>
                <a:r>
                  <a:rPr lang="en-GB" sz="1517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)</a:t>
                </a:r>
              </a:p>
            </p:txBody>
          </p:sp>
          <p:sp>
            <p:nvSpPr>
              <p:cNvPr id="12" name="Flowchart: Document 11">
                <a:extLst>
                  <a:ext uri="{FF2B5EF4-FFF2-40B4-BE49-F238E27FC236}">
                    <a16:creationId xmlns:a16="http://schemas.microsoft.com/office/drawing/2014/main" id="{A2525305-0B05-74CE-2861-D9F0F46F38F9}"/>
                  </a:ext>
                </a:extLst>
              </p:cNvPr>
              <p:cNvSpPr/>
              <p:nvPr/>
            </p:nvSpPr>
            <p:spPr>
              <a:xfrm>
                <a:off x="4256487" y="339550"/>
                <a:ext cx="1201970" cy="648857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LULC (t)</a:t>
                </a:r>
              </a:p>
            </p:txBody>
          </p:sp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35844639-55C4-6A44-6938-188C13D58C8E}"/>
                  </a:ext>
                </a:extLst>
              </p:cNvPr>
              <p:cNvSpPr/>
              <p:nvPr/>
            </p:nvSpPr>
            <p:spPr>
              <a:xfrm>
                <a:off x="4224636" y="3751684"/>
                <a:ext cx="1177911" cy="612648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allocation</a:t>
                </a:r>
              </a:p>
            </p:txBody>
          </p:sp>
          <p:sp>
            <p:nvSpPr>
              <p:cNvPr id="14" name="Flowchart: Process 13">
                <a:extLst>
                  <a:ext uri="{FF2B5EF4-FFF2-40B4-BE49-F238E27FC236}">
                    <a16:creationId xmlns:a16="http://schemas.microsoft.com/office/drawing/2014/main" id="{30EC2951-1D3C-ED1E-6869-C0A6A3D50711}"/>
                  </a:ext>
                </a:extLst>
              </p:cNvPr>
              <p:cNvSpPr/>
              <p:nvPr/>
            </p:nvSpPr>
            <p:spPr>
              <a:xfrm>
                <a:off x="4256487" y="1230122"/>
                <a:ext cx="1201970" cy="87943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Cellular Transition potential prediction</a:t>
                </a:r>
              </a:p>
            </p:txBody>
          </p:sp>
          <p:sp>
            <p:nvSpPr>
              <p:cNvPr id="15" name="Flowchart: Alternate Process 14">
                <a:extLst>
                  <a:ext uri="{FF2B5EF4-FFF2-40B4-BE49-F238E27FC236}">
                    <a16:creationId xmlns:a16="http://schemas.microsoft.com/office/drawing/2014/main" id="{D6D59A8C-DFF7-52B1-E8D4-6A258E33F0FD}"/>
                  </a:ext>
                </a:extLst>
              </p:cNvPr>
              <p:cNvSpPr/>
              <p:nvPr/>
            </p:nvSpPr>
            <p:spPr>
              <a:xfrm>
                <a:off x="2641344" y="2575893"/>
                <a:ext cx="1232919" cy="904637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potential perturbation</a:t>
                </a:r>
              </a:p>
            </p:txBody>
          </p:sp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C9FB045D-1484-809E-7CC2-A96640575CCE}"/>
                  </a:ext>
                </a:extLst>
              </p:cNvPr>
              <p:cNvSpPr/>
              <p:nvPr/>
            </p:nvSpPr>
            <p:spPr>
              <a:xfrm>
                <a:off x="2634017" y="3707013"/>
                <a:ext cx="1207204" cy="904637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 occurrence rates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30567D9-F389-1AC3-2A66-929493944685}"/>
                  </a:ext>
                </a:extLst>
              </p:cNvPr>
              <p:cNvCxnSpPr>
                <a:cxnSpLocks/>
                <a:stCxn id="9" idx="0"/>
                <a:endCxn id="111" idx="2"/>
              </p:cNvCxnSpPr>
              <p:nvPr/>
            </p:nvCxnSpPr>
            <p:spPr>
              <a:xfrm flipH="1" flipV="1">
                <a:off x="1568552" y="2655032"/>
                <a:ext cx="231" cy="235258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4284097-C141-3E23-D173-5C55046B4E81}"/>
                  </a:ext>
                </a:extLst>
              </p:cNvPr>
              <p:cNvCxnSpPr>
                <a:cxnSpLocks/>
                <a:stCxn id="12" idx="2"/>
                <a:endCxn id="14" idx="0"/>
              </p:cNvCxnSpPr>
              <p:nvPr/>
            </p:nvCxnSpPr>
            <p:spPr>
              <a:xfrm>
                <a:off x="4857472" y="945510"/>
                <a:ext cx="0" cy="284612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or: Elbow 34">
                <a:extLst>
                  <a:ext uri="{FF2B5EF4-FFF2-40B4-BE49-F238E27FC236}">
                    <a16:creationId xmlns:a16="http://schemas.microsoft.com/office/drawing/2014/main" id="{9777F8F5-C9B1-EFC6-F910-AFB3D766CEF5}"/>
                  </a:ext>
                </a:extLst>
              </p:cNvPr>
              <p:cNvCxnSpPr>
                <a:cxnSpLocks/>
                <a:stCxn id="9" idx="2"/>
                <a:endCxn id="16" idx="1"/>
              </p:cNvCxnSpPr>
              <p:nvPr/>
            </p:nvCxnSpPr>
            <p:spPr>
              <a:xfrm rot="16200000" flipH="1">
                <a:off x="1919198" y="3444512"/>
                <a:ext cx="364405" cy="1065234"/>
              </a:xfrm>
              <a:prstGeom prst="bentConnector2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681C5EB-A555-A3AF-2859-53913EEF7EEC}"/>
                  </a:ext>
                </a:extLst>
              </p:cNvPr>
              <p:cNvCxnSpPr>
                <a:cxnSpLocks/>
                <a:stCxn id="15" idx="3"/>
                <a:endCxn id="10" idx="1"/>
              </p:cNvCxnSpPr>
              <p:nvPr/>
            </p:nvCxnSpPr>
            <p:spPr>
              <a:xfrm flipV="1">
                <a:off x="3874263" y="3028211"/>
                <a:ext cx="378548" cy="1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3D955EA-2DB1-8969-2627-ED17E3879356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3879511" y="4058008"/>
                <a:ext cx="345125" cy="0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9FBC0E7-49AD-B21C-82C4-4BD91F9C43B8}"/>
                  </a:ext>
                </a:extLst>
              </p:cNvPr>
              <p:cNvCxnSpPr>
                <a:cxnSpLocks/>
                <a:stCxn id="10" idx="2"/>
                <a:endCxn id="13" idx="0"/>
              </p:cNvCxnSpPr>
              <p:nvPr/>
            </p:nvCxnSpPr>
            <p:spPr>
              <a:xfrm>
                <a:off x="4800973" y="3434624"/>
                <a:ext cx="12619" cy="317060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562BAE5-044B-BC92-232A-E894ED2EA21F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>
                <a:off x="4857472" y="2109558"/>
                <a:ext cx="0" cy="496914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1EAB6A18-7E29-F4B8-738D-43339DFFA246}"/>
                  </a:ext>
                </a:extLst>
              </p:cNvPr>
              <p:cNvCxnSpPr>
                <a:cxnSpLocks/>
                <a:stCxn id="85" idx="1"/>
                <a:endCxn id="13" idx="3"/>
              </p:cNvCxnSpPr>
              <p:nvPr/>
            </p:nvCxnSpPr>
            <p:spPr>
              <a:xfrm flipH="1">
                <a:off x="5402547" y="4058008"/>
                <a:ext cx="352164" cy="0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Flowchart: Document 84">
                <a:extLst>
                  <a:ext uri="{FF2B5EF4-FFF2-40B4-BE49-F238E27FC236}">
                    <a16:creationId xmlns:a16="http://schemas.microsoft.com/office/drawing/2014/main" id="{7693D491-728F-C110-0C72-183A2513B8CC}"/>
                  </a:ext>
                </a:extLst>
              </p:cNvPr>
              <p:cNvSpPr/>
              <p:nvPr/>
            </p:nvSpPr>
            <p:spPr>
              <a:xfrm>
                <a:off x="5754711" y="3761657"/>
                <a:ext cx="1304026" cy="592702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Allocation</a:t>
                </a:r>
              </a:p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parameters</a:t>
                </a:r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4655569D-FA15-9E7B-BEE9-0126D8DB8CB2}"/>
                  </a:ext>
                </a:extLst>
              </p:cNvPr>
              <p:cNvCxnSpPr>
                <a:cxnSpLocks/>
                <a:stCxn id="13" idx="2"/>
                <a:endCxn id="11" idx="0"/>
              </p:cNvCxnSpPr>
              <p:nvPr/>
            </p:nvCxnSpPr>
            <p:spPr>
              <a:xfrm flipH="1">
                <a:off x="4804647" y="4364332"/>
                <a:ext cx="8945" cy="355880"/>
              </a:xfrm>
              <a:prstGeom prst="straightConnector1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5E064B7-1CEF-4F9E-9F17-B8AC0C7EE38E}"/>
                </a:ext>
              </a:extLst>
            </p:cNvPr>
            <p:cNvCxnSpPr>
              <a:cxnSpLocks/>
            </p:cNvCxnSpPr>
            <p:nvPr/>
          </p:nvCxnSpPr>
          <p:spPr>
            <a:xfrm>
              <a:off x="4303450" y="1591342"/>
              <a:ext cx="287334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DA48E9B8-0401-4737-98CC-2DB3CFEC8901}"/>
                </a:ext>
              </a:extLst>
            </p:cNvPr>
            <p:cNvCxnSpPr>
              <a:cxnSpLocks/>
              <a:stCxn id="7" idx="3"/>
              <a:endCxn id="104" idx="1"/>
            </p:cNvCxnSpPr>
            <p:nvPr/>
          </p:nvCxnSpPr>
          <p:spPr>
            <a:xfrm>
              <a:off x="2615624" y="1435095"/>
              <a:ext cx="347168" cy="325937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9323BBA6-2ACF-46F5-A8A9-869ACC2084E9}"/>
                </a:ext>
              </a:extLst>
            </p:cNvPr>
            <p:cNvCxnSpPr>
              <a:cxnSpLocks/>
              <a:stCxn id="6" idx="3"/>
              <a:endCxn id="104" idx="1"/>
            </p:cNvCxnSpPr>
            <p:nvPr/>
          </p:nvCxnSpPr>
          <p:spPr>
            <a:xfrm flipV="1">
              <a:off x="2597093" y="1761032"/>
              <a:ext cx="365699" cy="519553"/>
            </a:xfrm>
            <a:prstGeom prst="bentConnector3">
              <a:avLst>
                <a:gd name="adj1" fmla="val 51954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209C1E7-4BA0-4917-A84C-E722F35D1854}"/>
                </a:ext>
              </a:extLst>
            </p:cNvPr>
            <p:cNvSpPr/>
            <p:nvPr/>
          </p:nvSpPr>
          <p:spPr>
            <a:xfrm>
              <a:off x="2962792" y="1738172"/>
              <a:ext cx="45719" cy="457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7E05B8D-4A8B-4C61-A749-56851A66FBE4}"/>
                </a:ext>
              </a:extLst>
            </p:cNvPr>
            <p:cNvSpPr/>
            <p:nvPr/>
          </p:nvSpPr>
          <p:spPr>
            <a:xfrm>
              <a:off x="1879989" y="2540487"/>
              <a:ext cx="45719" cy="457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E8322900-7132-4B2A-9D44-B08581CDA849}"/>
                </a:ext>
              </a:extLst>
            </p:cNvPr>
            <p:cNvCxnSpPr>
              <a:stCxn id="9" idx="3"/>
              <a:endCxn id="15" idx="1"/>
            </p:cNvCxnSpPr>
            <p:nvPr/>
          </p:nvCxnSpPr>
          <p:spPr>
            <a:xfrm flipV="1">
              <a:off x="2658021" y="2959386"/>
              <a:ext cx="317620" cy="3143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258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4EBB35-3D2D-4117-AA4E-3606F5401FAE}"/>
              </a:ext>
            </a:extLst>
          </p:cNvPr>
          <p:cNvCxnSpPr>
            <a:cxnSpLocks/>
            <a:stCxn id="33" idx="2"/>
            <a:endCxn id="26" idx="0"/>
          </p:cNvCxnSpPr>
          <p:nvPr/>
        </p:nvCxnSpPr>
        <p:spPr>
          <a:xfrm flipH="1">
            <a:off x="4313427" y="1334367"/>
            <a:ext cx="1890" cy="79823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AC9EA6D-F9C7-4773-AF1D-284DB5D95EF8}"/>
              </a:ext>
            </a:extLst>
          </p:cNvPr>
          <p:cNvGrpSpPr/>
          <p:nvPr/>
        </p:nvGrpSpPr>
        <p:grpSpPr>
          <a:xfrm>
            <a:off x="1839933" y="354179"/>
            <a:ext cx="4703013" cy="6390510"/>
            <a:chOff x="1839933" y="354179"/>
            <a:chExt cx="4703013" cy="639051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826CD45-9393-4BE2-BD96-2E9F7E0A4F03}"/>
                </a:ext>
              </a:extLst>
            </p:cNvPr>
            <p:cNvGrpSpPr/>
            <p:nvPr/>
          </p:nvGrpSpPr>
          <p:grpSpPr>
            <a:xfrm>
              <a:off x="1839933" y="354179"/>
              <a:ext cx="4703013" cy="6390510"/>
              <a:chOff x="1839933" y="354179"/>
              <a:chExt cx="4703013" cy="6390510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03F4BD4-ECE4-484E-83B0-DE81C525BC35}"/>
                  </a:ext>
                </a:extLst>
              </p:cNvPr>
              <p:cNvGrpSpPr/>
              <p:nvPr/>
            </p:nvGrpSpPr>
            <p:grpSpPr>
              <a:xfrm>
                <a:off x="1839933" y="1118325"/>
                <a:ext cx="4703013" cy="5626364"/>
                <a:chOff x="1157519" y="161980"/>
                <a:chExt cx="4703013" cy="5626364"/>
              </a:xfrm>
            </p:grpSpPr>
            <p:sp>
              <p:nvSpPr>
                <p:cNvPr id="9" name="Flowchart: Decision 8">
                  <a:extLst>
                    <a:ext uri="{FF2B5EF4-FFF2-40B4-BE49-F238E27FC236}">
                      <a16:creationId xmlns:a16="http://schemas.microsoft.com/office/drawing/2014/main" id="{9BAB24E8-6FA0-8716-84A0-D2CA1E975C22}"/>
                    </a:ext>
                  </a:extLst>
                </p:cNvPr>
                <p:cNvSpPr/>
                <p:nvPr/>
              </p:nvSpPr>
              <p:spPr>
                <a:xfrm>
                  <a:off x="1157519" y="2551430"/>
                  <a:ext cx="1509883" cy="904637"/>
                </a:xfrm>
                <a:prstGeom prst="flowChartDecision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Lato Light" panose="020F0502020204030203" pitchFamily="34" charset="0"/>
                      <a:ea typeface="Lato Light" panose="020F0502020204030203" pitchFamily="34" charset="0"/>
                      <a:cs typeface="Lato Light" panose="020F0502020204030203" pitchFamily="34" charset="0"/>
                    </a:rPr>
                    <a:t>Scenario</a:t>
                  </a:r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907E1DD8-E4D3-2B12-9E2E-45DA24D837D8}"/>
                    </a:ext>
                  </a:extLst>
                </p:cNvPr>
                <p:cNvGrpSpPr/>
                <p:nvPr/>
              </p:nvGrpSpPr>
              <p:grpSpPr>
                <a:xfrm>
                  <a:off x="1380658" y="161980"/>
                  <a:ext cx="4479874" cy="5626364"/>
                  <a:chOff x="1046361" y="230806"/>
                  <a:chExt cx="4479874" cy="5626364"/>
                </a:xfrm>
              </p:grpSpPr>
              <p:sp>
                <p:nvSpPr>
                  <p:cNvPr id="6" name="Flowchart: Multidocument 5">
                    <a:extLst>
                      <a:ext uri="{FF2B5EF4-FFF2-40B4-BE49-F238E27FC236}">
                        <a16:creationId xmlns:a16="http://schemas.microsoft.com/office/drawing/2014/main" id="{0E895BA0-D204-070C-2B77-1F2CF269C63B}"/>
                      </a:ext>
                    </a:extLst>
                  </p:cNvPr>
                  <p:cNvSpPr/>
                  <p:nvPr/>
                </p:nvSpPr>
                <p:spPr>
                  <a:xfrm>
                    <a:off x="1046361" y="1782549"/>
                    <a:ext cx="1232919" cy="649649"/>
                  </a:xfrm>
                  <a:prstGeom prst="flowChartMultidocument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Dynamic predictors</a:t>
                    </a:r>
                  </a:p>
                </p:txBody>
              </p:sp>
              <p:sp>
                <p:nvSpPr>
                  <p:cNvPr id="7" name="Flowchart: Multidocument 6">
                    <a:extLst>
                      <a:ext uri="{FF2B5EF4-FFF2-40B4-BE49-F238E27FC236}">
                        <a16:creationId xmlns:a16="http://schemas.microsoft.com/office/drawing/2014/main" id="{2EBE057C-2BFB-1377-25EB-96C50F8E6696}"/>
                      </a:ext>
                    </a:extLst>
                  </p:cNvPr>
                  <p:cNvSpPr/>
                  <p:nvPr/>
                </p:nvSpPr>
                <p:spPr>
                  <a:xfrm>
                    <a:off x="1095840" y="939211"/>
                    <a:ext cx="1201971" cy="645345"/>
                  </a:xfrm>
                  <a:prstGeom prst="flowChartMultidocument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Static predictors</a:t>
                    </a:r>
                  </a:p>
                </p:txBody>
              </p:sp>
              <p:sp>
                <p:nvSpPr>
                  <p:cNvPr id="8" name="Flowchart: Multidocument 7">
                    <a:extLst>
                      <a:ext uri="{FF2B5EF4-FFF2-40B4-BE49-F238E27FC236}">
                        <a16:creationId xmlns:a16="http://schemas.microsoft.com/office/drawing/2014/main" id="{E62AA555-6398-B1C4-998C-DB2E396E34B2}"/>
                      </a:ext>
                    </a:extLst>
                  </p:cNvPr>
                  <p:cNvSpPr/>
                  <p:nvPr/>
                </p:nvSpPr>
                <p:spPr>
                  <a:xfrm>
                    <a:off x="2646593" y="1239613"/>
                    <a:ext cx="1304027" cy="955394"/>
                  </a:xfrm>
                  <a:prstGeom prst="flowChartMultidocument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Transition potential models</a:t>
                    </a:r>
                  </a:p>
                </p:txBody>
              </p:sp>
              <p:sp>
                <p:nvSpPr>
                  <p:cNvPr id="10" name="Flowchart: Multidocument 9">
                    <a:extLst>
                      <a:ext uri="{FF2B5EF4-FFF2-40B4-BE49-F238E27FC236}">
                        <a16:creationId xmlns:a16="http://schemas.microsoft.com/office/drawing/2014/main" id="{47DE9C19-D4D8-EDF0-8DD4-DBB34D7140A4}"/>
                      </a:ext>
                    </a:extLst>
                  </p:cNvPr>
                  <p:cNvSpPr/>
                  <p:nvPr/>
                </p:nvSpPr>
                <p:spPr>
                  <a:xfrm>
                    <a:off x="4252811" y="2588492"/>
                    <a:ext cx="1273424" cy="879437"/>
                  </a:xfrm>
                  <a:prstGeom prst="flowChartMultidocument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Transition potential maps</a:t>
                    </a:r>
                  </a:p>
                </p:txBody>
              </p:sp>
              <p:sp>
                <p:nvSpPr>
                  <p:cNvPr id="11" name="Flowchart: Document 10">
                    <a:extLst>
                      <a:ext uri="{FF2B5EF4-FFF2-40B4-BE49-F238E27FC236}">
                        <a16:creationId xmlns:a16="http://schemas.microsoft.com/office/drawing/2014/main" id="{E96C7314-A7AA-2970-3AA8-A374D83270E0}"/>
                      </a:ext>
                    </a:extLst>
                  </p:cNvPr>
                  <p:cNvSpPr/>
                  <p:nvPr/>
                </p:nvSpPr>
                <p:spPr>
                  <a:xfrm>
                    <a:off x="4284116" y="5157945"/>
                    <a:ext cx="1058950" cy="699225"/>
                  </a:xfrm>
                  <a:prstGeom prst="flowChartDocumen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Simulated LULC (</a:t>
                    </a:r>
                    <a:r>
                      <a:rPr lang="en-GB" sz="1200" dirty="0" err="1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t+x</a:t>
                    </a:r>
                    <a:r>
                      <a:rPr lang="en-GB" sz="1517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)</a:t>
                    </a:r>
                  </a:p>
                </p:txBody>
              </p:sp>
              <p:sp>
                <p:nvSpPr>
                  <p:cNvPr id="12" name="Flowchart: Document 11">
                    <a:extLst>
                      <a:ext uri="{FF2B5EF4-FFF2-40B4-BE49-F238E27FC236}">
                        <a16:creationId xmlns:a16="http://schemas.microsoft.com/office/drawing/2014/main" id="{A2525305-0B05-74CE-2861-D9F0F46F38F9}"/>
                      </a:ext>
                    </a:extLst>
                  </p:cNvPr>
                  <p:cNvSpPr/>
                  <p:nvPr/>
                </p:nvSpPr>
                <p:spPr>
                  <a:xfrm>
                    <a:off x="4256487" y="230806"/>
                    <a:ext cx="1201970" cy="648857"/>
                  </a:xfrm>
                  <a:prstGeom prst="flowChartDocumen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 LULC (t)</a:t>
                    </a:r>
                  </a:p>
                </p:txBody>
              </p:sp>
              <p:sp>
                <p:nvSpPr>
                  <p:cNvPr id="13" name="Flowchart: Process 12">
                    <a:extLst>
                      <a:ext uri="{FF2B5EF4-FFF2-40B4-BE49-F238E27FC236}">
                        <a16:creationId xmlns:a16="http://schemas.microsoft.com/office/drawing/2014/main" id="{35844639-55C4-6A44-6938-188C13D58C8E}"/>
                      </a:ext>
                    </a:extLst>
                  </p:cNvPr>
                  <p:cNvSpPr/>
                  <p:nvPr/>
                </p:nvSpPr>
                <p:spPr>
                  <a:xfrm>
                    <a:off x="4224636" y="3751683"/>
                    <a:ext cx="1177911" cy="1081997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solidFill>
                          <a:schemeClr val="tx1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Transition</a:t>
                    </a:r>
                  </a:p>
                  <a:p>
                    <a:pPr algn="ctr"/>
                    <a:r>
                      <a:rPr lang="en-GB" sz="1200" dirty="0">
                        <a:solidFill>
                          <a:schemeClr val="tx1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allocation</a:t>
                    </a:r>
                  </a:p>
                </p:txBody>
              </p:sp>
              <p:sp>
                <p:nvSpPr>
                  <p:cNvPr id="14" name="Flowchart: Process 13">
                    <a:extLst>
                      <a:ext uri="{FF2B5EF4-FFF2-40B4-BE49-F238E27FC236}">
                        <a16:creationId xmlns:a16="http://schemas.microsoft.com/office/drawing/2014/main" id="{30EC2951-1D3C-ED1E-6869-C0A6A3D50711}"/>
                      </a:ext>
                    </a:extLst>
                  </p:cNvPr>
                  <p:cNvSpPr/>
                  <p:nvPr/>
                </p:nvSpPr>
                <p:spPr>
                  <a:xfrm>
                    <a:off x="4256487" y="1230122"/>
                    <a:ext cx="1201970" cy="87943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200" dirty="0">
                        <a:solidFill>
                          <a:schemeClr val="tx1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rPr>
                      <a:t>Cellular Transition potential prediction</a:t>
                    </a:r>
                  </a:p>
                </p:txBody>
              </p: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930567D9-F389-1AC3-2A66-929493944685}"/>
                      </a:ext>
                    </a:extLst>
                  </p:cNvPr>
                  <p:cNvCxnSpPr>
                    <a:cxnSpLocks/>
                    <a:stCxn id="9" idx="0"/>
                    <a:endCxn id="6" idx="2"/>
                  </p:cNvCxnSpPr>
                  <p:nvPr/>
                </p:nvCxnSpPr>
                <p:spPr>
                  <a:xfrm flipH="1" flipV="1">
                    <a:off x="1577087" y="2407596"/>
                    <a:ext cx="1077" cy="212660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C4284097-C141-3E23-D173-5C55046B4E81}"/>
                      </a:ext>
                    </a:extLst>
                  </p:cNvPr>
                  <p:cNvCxnSpPr>
                    <a:cxnSpLocks/>
                    <a:stCxn id="12" idx="2"/>
                    <a:endCxn id="14" idx="0"/>
                  </p:cNvCxnSpPr>
                  <p:nvPr/>
                </p:nvCxnSpPr>
                <p:spPr>
                  <a:xfrm>
                    <a:off x="4857472" y="836766"/>
                    <a:ext cx="0" cy="393356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Connector: Elbow 34">
                    <a:extLst>
                      <a:ext uri="{FF2B5EF4-FFF2-40B4-BE49-F238E27FC236}">
                        <a16:creationId xmlns:a16="http://schemas.microsoft.com/office/drawing/2014/main" id="{9777F8F5-C9B1-EFC6-F910-AFB3D766CEF5}"/>
                      </a:ext>
                    </a:extLst>
                  </p:cNvPr>
                  <p:cNvCxnSpPr>
                    <a:cxnSpLocks/>
                    <a:stCxn id="9" idx="2"/>
                    <a:endCxn id="69" idx="1"/>
                  </p:cNvCxnSpPr>
                  <p:nvPr/>
                </p:nvCxnSpPr>
                <p:spPr>
                  <a:xfrm rot="16200000" flipH="1">
                    <a:off x="1865893" y="3237163"/>
                    <a:ext cx="478640" cy="1054099"/>
                  </a:xfrm>
                  <a:prstGeom prst="bentConnector2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E681C5EB-A555-A3AF-2859-53913EEF7EEC}"/>
                      </a:ext>
                    </a:extLst>
                  </p:cNvPr>
                  <p:cNvCxnSpPr>
                    <a:cxnSpLocks/>
                    <a:stCxn id="70" idx="3"/>
                    <a:endCxn id="10" idx="1"/>
                  </p:cNvCxnSpPr>
                  <p:nvPr/>
                </p:nvCxnSpPr>
                <p:spPr>
                  <a:xfrm flipV="1">
                    <a:off x="3846759" y="3028211"/>
                    <a:ext cx="406052" cy="8073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83D955EA-2DB1-8969-2627-ED17E3879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37839" y="3991524"/>
                    <a:ext cx="383415" cy="1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19FBC0E7-49AD-B21C-82C4-4BD91F9C43B8}"/>
                      </a:ext>
                    </a:extLst>
                  </p:cNvPr>
                  <p:cNvCxnSpPr>
                    <a:cxnSpLocks/>
                    <a:stCxn id="10" idx="2"/>
                    <a:endCxn id="13" idx="0"/>
                  </p:cNvCxnSpPr>
                  <p:nvPr/>
                </p:nvCxnSpPr>
                <p:spPr>
                  <a:xfrm>
                    <a:off x="4800973" y="3434624"/>
                    <a:ext cx="12619" cy="317059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Arrow Connector 75">
                    <a:extLst>
                      <a:ext uri="{FF2B5EF4-FFF2-40B4-BE49-F238E27FC236}">
                        <a16:creationId xmlns:a16="http://schemas.microsoft.com/office/drawing/2014/main" id="{5562BAE5-044B-BC92-232A-E894ED2EA21F}"/>
                      </a:ext>
                    </a:extLst>
                  </p:cNvPr>
                  <p:cNvCxnSpPr>
                    <a:cxnSpLocks/>
                    <a:stCxn id="14" idx="2"/>
                  </p:cNvCxnSpPr>
                  <p:nvPr/>
                </p:nvCxnSpPr>
                <p:spPr>
                  <a:xfrm>
                    <a:off x="4857472" y="2109558"/>
                    <a:ext cx="0" cy="496914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Arrow Connector 91">
                    <a:extLst>
                      <a:ext uri="{FF2B5EF4-FFF2-40B4-BE49-F238E27FC236}">
                        <a16:creationId xmlns:a16="http://schemas.microsoft.com/office/drawing/2014/main" id="{4655569D-FA15-9E7B-BEE9-0126D8DB8CB2}"/>
                      </a:ext>
                    </a:extLst>
                  </p:cNvPr>
                  <p:cNvCxnSpPr>
                    <a:cxnSpLocks/>
                    <a:stCxn id="13" idx="2"/>
                    <a:endCxn id="11" idx="0"/>
                  </p:cNvCxnSpPr>
                  <p:nvPr/>
                </p:nvCxnSpPr>
                <p:spPr>
                  <a:xfrm flipH="1">
                    <a:off x="4813591" y="4833680"/>
                    <a:ext cx="1" cy="32426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85E064B7-1CEF-4F9E-9F17-B8AC0C7EE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03450" y="1591342"/>
                  <a:ext cx="287334" cy="0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85000"/>
                      <a:lumOff val="1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Connector: Elbow 99">
                  <a:extLst>
                    <a:ext uri="{FF2B5EF4-FFF2-40B4-BE49-F238E27FC236}">
                      <a16:creationId xmlns:a16="http://schemas.microsoft.com/office/drawing/2014/main" id="{DA48E9B8-0401-4737-98CC-2DB3CFEC8901}"/>
                    </a:ext>
                  </a:extLst>
                </p:cNvPr>
                <p:cNvCxnSpPr>
                  <a:cxnSpLocks/>
                  <a:stCxn id="7" idx="3"/>
                </p:cNvCxnSpPr>
                <p:nvPr/>
              </p:nvCxnSpPr>
              <p:spPr>
                <a:xfrm>
                  <a:off x="2632108" y="1193058"/>
                  <a:ext cx="347168" cy="325937"/>
                </a:xfrm>
                <a:prstGeom prst="bentConnector3">
                  <a:avLst/>
                </a:prstGeom>
                <a:ln w="952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Connector: Elbow 101">
                  <a:extLst>
                    <a:ext uri="{FF2B5EF4-FFF2-40B4-BE49-F238E27FC236}">
                      <a16:creationId xmlns:a16="http://schemas.microsoft.com/office/drawing/2014/main" id="{9323BBA6-2ACF-46F5-A8A9-869ACC2084E9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 flipV="1">
                  <a:off x="2613577" y="1518995"/>
                  <a:ext cx="365699" cy="519553"/>
                </a:xfrm>
                <a:prstGeom prst="bentConnector3">
                  <a:avLst>
                    <a:gd name="adj1" fmla="val 51954"/>
                  </a:avLst>
                </a:prstGeom>
                <a:ln w="952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5209C1E7-4BA0-4917-A84C-E722F35D1854}"/>
                    </a:ext>
                  </a:extLst>
                </p:cNvPr>
                <p:cNvSpPr/>
                <p:nvPr/>
              </p:nvSpPr>
              <p:spPr>
                <a:xfrm>
                  <a:off x="2962792" y="1738172"/>
                  <a:ext cx="45719" cy="45719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7E05B8D-4A8B-4C61-A749-56851A66FBE4}"/>
                    </a:ext>
                  </a:extLst>
                </p:cNvPr>
                <p:cNvSpPr/>
                <p:nvPr/>
              </p:nvSpPr>
              <p:spPr>
                <a:xfrm>
                  <a:off x="1790911" y="2540487"/>
                  <a:ext cx="134797" cy="335769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2" name="Flowchart: Document 31">
                <a:extLst>
                  <a:ext uri="{FF2B5EF4-FFF2-40B4-BE49-F238E27FC236}">
                    <a16:creationId xmlns:a16="http://schemas.microsoft.com/office/drawing/2014/main" id="{280D455E-35FB-4E5F-A9A3-538C8BACD292}"/>
                  </a:ext>
                </a:extLst>
              </p:cNvPr>
              <p:cNvSpPr/>
              <p:nvPr/>
            </p:nvSpPr>
            <p:spPr>
              <a:xfrm>
                <a:off x="5273198" y="354179"/>
                <a:ext cx="1201970" cy="648857"/>
              </a:xfrm>
              <a:prstGeom prst="flowChartDocumen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LULC (t-1)</a:t>
                </a:r>
              </a:p>
            </p:txBody>
          </p:sp>
          <p:sp>
            <p:nvSpPr>
              <p:cNvPr id="33" name="Flowchart: Process 32">
                <a:extLst>
                  <a:ext uri="{FF2B5EF4-FFF2-40B4-BE49-F238E27FC236}">
                    <a16:creationId xmlns:a16="http://schemas.microsoft.com/office/drawing/2014/main" id="{236C319D-3DB1-4035-84D2-F60BCB19B21B}"/>
                  </a:ext>
                </a:extLst>
              </p:cNvPr>
              <p:cNvSpPr/>
              <p:nvPr/>
            </p:nvSpPr>
            <p:spPr>
              <a:xfrm>
                <a:off x="3726361" y="721719"/>
                <a:ext cx="1177911" cy="612648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Transition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i</a:t>
                </a:r>
                <a:r>
                  <a:rPr lang="en-GB" sz="1200" dirty="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dentification</a:t>
                </a:r>
              </a:p>
            </p:txBody>
          </p:sp>
          <p:cxnSp>
            <p:nvCxnSpPr>
              <p:cNvPr id="41" name="Connector: Elbow 40">
                <a:extLst>
                  <a:ext uri="{FF2B5EF4-FFF2-40B4-BE49-F238E27FC236}">
                    <a16:creationId xmlns:a16="http://schemas.microsoft.com/office/drawing/2014/main" id="{7277E24E-7A85-4DE4-B432-4E032C43B319}"/>
                  </a:ext>
                </a:extLst>
              </p:cNvPr>
              <p:cNvCxnSpPr>
                <a:cxnSpLocks/>
                <a:stCxn id="32" idx="1"/>
                <a:endCxn id="33" idx="3"/>
              </p:cNvCxnSpPr>
              <p:nvPr/>
            </p:nvCxnSpPr>
            <p:spPr>
              <a:xfrm rot="10800000" flipV="1">
                <a:off x="4904272" y="678607"/>
                <a:ext cx="368926" cy="349435"/>
              </a:xfrm>
              <a:prstGeom prst="bentConnector3">
                <a:avLst>
                  <a:gd name="adj1" fmla="val 50000"/>
                </a:avLst>
              </a:prstGeom>
              <a:ln w="952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CDAD5C17-7B88-4D78-8439-9EF9B6378484}"/>
                </a:ext>
              </a:extLst>
            </p:cNvPr>
            <p:cNvCxnSpPr>
              <a:cxnSpLocks/>
              <a:stCxn id="12" idx="1"/>
              <a:endCxn id="33" idx="3"/>
            </p:cNvCxnSpPr>
            <p:nvPr/>
          </p:nvCxnSpPr>
          <p:spPr>
            <a:xfrm rot="10800000">
              <a:off x="4904272" y="1028044"/>
              <a:ext cx="368926" cy="414711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3B44D-6BFE-42DC-8018-39FCA1FDE44B}"/>
              </a:ext>
            </a:extLst>
          </p:cNvPr>
          <p:cNvSpPr/>
          <p:nvPr/>
        </p:nvSpPr>
        <p:spPr>
          <a:xfrm>
            <a:off x="4290567" y="2132603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Flowchart: Document 57">
            <a:extLst>
              <a:ext uri="{FF2B5EF4-FFF2-40B4-BE49-F238E27FC236}">
                <a16:creationId xmlns:a16="http://schemas.microsoft.com/office/drawing/2014/main" id="{F6E27E5D-6D73-4FEB-9948-FF28D0EC9D62}"/>
              </a:ext>
            </a:extLst>
          </p:cNvPr>
          <p:cNvSpPr/>
          <p:nvPr/>
        </p:nvSpPr>
        <p:spPr>
          <a:xfrm>
            <a:off x="3609526" y="5303853"/>
            <a:ext cx="1304026" cy="542439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Allocation</a:t>
            </a:r>
          </a:p>
          <a:p>
            <a:pPr algn="ctr"/>
            <a:r>
              <a:rPr lang="en-GB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parameters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46CDB77C-FCD3-4A4A-B976-3F27D7A0595A}"/>
              </a:ext>
            </a:extLst>
          </p:cNvPr>
          <p:cNvCxnSpPr>
            <a:cxnSpLocks/>
            <a:stCxn id="11" idx="3"/>
          </p:cNvCxnSpPr>
          <p:nvPr/>
        </p:nvCxnSpPr>
        <p:spPr>
          <a:xfrm flipH="1" flipV="1">
            <a:off x="5877566" y="1920963"/>
            <a:ext cx="482211" cy="4474114"/>
          </a:xfrm>
          <a:prstGeom prst="bentConnector4">
            <a:avLst>
              <a:gd name="adj1" fmla="val -99598"/>
              <a:gd name="adj2" fmla="val 99845"/>
            </a:avLst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Flowchart: Document 68">
            <a:extLst>
              <a:ext uri="{FF2B5EF4-FFF2-40B4-BE49-F238E27FC236}">
                <a16:creationId xmlns:a16="http://schemas.microsoft.com/office/drawing/2014/main" id="{0481B2B4-22CD-4FD5-90CC-76CD98F11445}"/>
              </a:ext>
            </a:extLst>
          </p:cNvPr>
          <p:cNvSpPr/>
          <p:nvPr/>
        </p:nvSpPr>
        <p:spPr>
          <a:xfrm>
            <a:off x="3648974" y="4594701"/>
            <a:ext cx="1304026" cy="59270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Transition occurrence rates</a:t>
            </a:r>
          </a:p>
        </p:txBody>
      </p:sp>
      <p:sp>
        <p:nvSpPr>
          <p:cNvPr id="70" name="Flowchart: Process 69">
            <a:extLst>
              <a:ext uri="{FF2B5EF4-FFF2-40B4-BE49-F238E27FC236}">
                <a16:creationId xmlns:a16="http://schemas.microsoft.com/office/drawing/2014/main" id="{F43ECCB1-FB96-4ED8-897F-CE53D828DF89}"/>
              </a:ext>
            </a:extLst>
          </p:cNvPr>
          <p:cNvSpPr/>
          <p:nvPr/>
        </p:nvSpPr>
        <p:spPr>
          <a:xfrm>
            <a:off x="3685559" y="3617479"/>
            <a:ext cx="1177911" cy="61264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Transition potential perturbation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91C1FE7-9C4D-40E0-9F55-49BE1FD2786A}"/>
              </a:ext>
            </a:extLst>
          </p:cNvPr>
          <p:cNvCxnSpPr>
            <a:cxnSpLocks/>
          </p:cNvCxnSpPr>
          <p:nvPr/>
        </p:nvCxnSpPr>
        <p:spPr>
          <a:xfrm>
            <a:off x="4913552" y="5471157"/>
            <a:ext cx="32441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B45705-C459-4736-A597-3A7FE3DB5F6D}"/>
              </a:ext>
            </a:extLst>
          </p:cNvPr>
          <p:cNvCxnSpPr>
            <a:cxnSpLocks/>
            <a:stCxn id="9" idx="3"/>
            <a:endCxn id="105" idx="1"/>
          </p:cNvCxnSpPr>
          <p:nvPr/>
        </p:nvCxnSpPr>
        <p:spPr>
          <a:xfrm>
            <a:off x="3349816" y="3960094"/>
            <a:ext cx="336111" cy="456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81B8FF8-811B-4CE2-AB57-852CE43548EE}"/>
              </a:ext>
            </a:extLst>
          </p:cNvPr>
          <p:cNvSpPr txBox="1"/>
          <p:nvPr/>
        </p:nvSpPr>
        <p:spPr>
          <a:xfrm rot="16200000">
            <a:off x="5649095" y="3821595"/>
            <a:ext cx="26645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Repeat for each simulation time step</a:t>
            </a:r>
            <a:endParaRPr lang="en-GB" sz="12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D937C04-19F7-464D-AD4B-1AB0E440E8FF}"/>
              </a:ext>
            </a:extLst>
          </p:cNvPr>
          <p:cNvSpPr/>
          <p:nvPr/>
        </p:nvSpPr>
        <p:spPr>
          <a:xfrm>
            <a:off x="2554043" y="3513316"/>
            <a:ext cx="83820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BF2CDC-C06A-443F-B9DC-B4839B957976}"/>
              </a:ext>
            </a:extLst>
          </p:cNvPr>
          <p:cNvSpPr/>
          <p:nvPr/>
        </p:nvSpPr>
        <p:spPr>
          <a:xfrm>
            <a:off x="3685927" y="3941796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4E05DE4-6240-4D04-91E9-38151133E3F3}"/>
              </a:ext>
            </a:extLst>
          </p:cNvPr>
          <p:cNvCxnSpPr>
            <a:cxnSpLocks/>
            <a:stCxn id="9" idx="2"/>
            <a:endCxn id="58" idx="1"/>
          </p:cNvCxnSpPr>
          <p:nvPr/>
        </p:nvCxnSpPr>
        <p:spPr>
          <a:xfrm rot="16200000" flipH="1">
            <a:off x="2520870" y="4486416"/>
            <a:ext cx="1162661" cy="1014651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EF34E1D1-6A49-450D-AC20-FCAEC0EC43F2}"/>
              </a:ext>
            </a:extLst>
          </p:cNvPr>
          <p:cNvSpPr/>
          <p:nvPr/>
        </p:nvSpPr>
        <p:spPr>
          <a:xfrm flipH="1">
            <a:off x="3632821" y="6155755"/>
            <a:ext cx="1257436" cy="4786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Parameter calibration</a:t>
            </a:r>
            <a:endParaRPr lang="en-GB" sz="12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8E014C-F088-40AE-9717-608A28A09CA2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4261539" y="5810431"/>
            <a:ext cx="0" cy="34532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4A54499-F69E-488B-9022-95DCCD26F965}"/>
              </a:ext>
            </a:extLst>
          </p:cNvPr>
          <p:cNvCxnSpPr>
            <a:cxnSpLocks/>
            <a:stCxn id="33" idx="1"/>
            <a:endCxn id="46" idx="3"/>
          </p:cNvCxnSpPr>
          <p:nvPr/>
        </p:nvCxnSpPr>
        <p:spPr>
          <a:xfrm rot="10800000" flipV="1">
            <a:off x="3632821" y="1028042"/>
            <a:ext cx="93540" cy="5367033"/>
          </a:xfrm>
          <a:prstGeom prst="bentConnector3">
            <a:avLst>
              <a:gd name="adj1" fmla="val 2200835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90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</Words>
  <Application>Microsoft Office PowerPoint</Application>
  <PresentationFormat>A4 Paper (210x297 mm)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Black  Benjamin</dc:creator>
  <cp:lastModifiedBy>Black  Benjamin</cp:lastModifiedBy>
  <cp:revision>64</cp:revision>
  <dcterms:created xsi:type="dcterms:W3CDTF">2022-04-14T08:42:49Z</dcterms:created>
  <dcterms:modified xsi:type="dcterms:W3CDTF">2023-05-02T10:09:58Z</dcterms:modified>
</cp:coreProperties>
</file>