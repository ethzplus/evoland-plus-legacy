
<file path=[Content_Types].xml><?xml version="1.0" encoding="utf-8"?>
<Types xmlns="http://schemas.openxmlformats.org/package/2006/content-types">
  <Default Extension="jpeg" ContentType="image/jpe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72" r:id="rId1"/>
  </p:sldMasterIdLst>
  <p:sldIdLst>
    <p:sldId id="257" r:id="rId2"/>
  </p:sldIdLst>
  <p:sldSz cx="9906000" cy="6858000" type="A4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521415D9-36F7-43E2-AB2F-B90AF26B5E84}">
      <p14:sectionLst xmlns:p14="http://schemas.microsoft.com/office/powerpoint/2010/main">
        <p14:section name="Figure_1_V1" id="{423FCDDB-C47F-4456-BCC4-D52F9D024FCB}">
          <p14:sldIdLst>
            <p14:sldId id="257"/>
          </p14:sldIdLst>
        </p14:section>
      </p14:sectionLst>
    </p:ex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E6E9EE"/>
    <a:srgbClr val="D6DCE4"/>
    <a:srgbClr val="ACB9CA"/>
    <a:srgbClr val="8497B0"/>
    <a:srgbClr val="333F4F"/>
    <a:srgbClr val="222B35"/>
    <a:srgbClr val="ECECEC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Medium Style 2 -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4995" autoAdjust="0"/>
    <p:restoredTop sz="94660"/>
  </p:normalViewPr>
  <p:slideViewPr>
    <p:cSldViewPr snapToGrid="0">
      <p:cViewPr varScale="1">
        <p:scale>
          <a:sx n="70" d="100"/>
          <a:sy n="70" d="100"/>
        </p:scale>
        <p:origin x="1208" y="69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3" Type="http://schemas.openxmlformats.org/officeDocument/2006/relationships/presProps" Target="presProp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tableStyles" Target="tableStyles.xml"/><Relationship Id="rId5" Type="http://schemas.openxmlformats.org/officeDocument/2006/relationships/theme" Target="theme/theme1.xml"/><Relationship Id="rId4" Type="http://schemas.openxmlformats.org/officeDocument/2006/relationships/viewProps" Target="viewProps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742950" y="1122363"/>
            <a:ext cx="84201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238250" y="3602038"/>
            <a:ext cx="74295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8A02E74-1BEC-4682-B539-13A15FE70A36}" type="datetimeFigureOut">
              <a:rPr lang="en-GB" smtClean="0"/>
              <a:t>07/10/2022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1DEE93A-5D7F-45E3-9A29-AF2FD327AD34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461824725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8A02E74-1BEC-4682-B539-13A15FE70A36}" type="datetimeFigureOut">
              <a:rPr lang="en-GB" smtClean="0"/>
              <a:t>07/10/2022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1DEE93A-5D7F-45E3-9A29-AF2FD327AD34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697400856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75879" y="1709740"/>
            <a:ext cx="8543925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75879" y="4589465"/>
            <a:ext cx="8543925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/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8A02E74-1BEC-4682-B539-13A15FE70A36}" type="datetimeFigureOut">
              <a:rPr lang="en-GB" smtClean="0"/>
              <a:t>07/10/2022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1DEE93A-5D7F-45E3-9A29-AF2FD327AD34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5860599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681038" y="1825625"/>
            <a:ext cx="421005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5014913" y="1825625"/>
            <a:ext cx="421005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8A02E74-1BEC-4682-B539-13A15FE70A36}" type="datetimeFigureOut">
              <a:rPr lang="en-GB" smtClean="0"/>
              <a:t>07/10/2022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1DEE93A-5D7F-45E3-9A29-AF2FD327AD34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077946368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82328" y="365127"/>
            <a:ext cx="8543925" cy="1325563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82329" y="1681163"/>
            <a:ext cx="4190702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82329" y="2505075"/>
            <a:ext cx="4190702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5014913" y="1681163"/>
            <a:ext cx="4211340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5014913" y="2505075"/>
            <a:ext cx="4211340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8A02E74-1BEC-4682-B539-13A15FE70A36}" type="datetimeFigureOut">
              <a:rPr lang="en-GB" smtClean="0"/>
              <a:t>07/10/2022</a:t>
            </a:fld>
            <a:endParaRPr lang="en-GB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1DEE93A-5D7F-45E3-9A29-AF2FD327AD34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632626588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8A02E74-1BEC-4682-B539-13A15FE70A36}" type="datetimeFigureOut">
              <a:rPr lang="en-GB" smtClean="0"/>
              <a:t>07/10/2022</a:t>
            </a:fld>
            <a:endParaRPr lang="en-GB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1DEE93A-5D7F-45E3-9A29-AF2FD327AD34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120187708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8A02E74-1BEC-4682-B539-13A15FE70A36}" type="datetimeFigureOut">
              <a:rPr lang="en-GB" smtClean="0"/>
              <a:t>07/10/2022</a:t>
            </a:fld>
            <a:endParaRPr lang="en-GB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1DEE93A-5D7F-45E3-9A29-AF2FD327AD34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021290925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82328" y="457200"/>
            <a:ext cx="3194943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4211340" y="987427"/>
            <a:ext cx="5014913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682328" y="2057400"/>
            <a:ext cx="3194943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8A02E74-1BEC-4682-B539-13A15FE70A36}" type="datetimeFigureOut">
              <a:rPr lang="en-GB" smtClean="0"/>
              <a:t>07/10/2022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1DEE93A-5D7F-45E3-9A29-AF2FD327AD34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305403985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82328" y="457200"/>
            <a:ext cx="3194943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Picture Placeholder 2"/>
          <p:cNvSpPr>
            <a:spLocks noGrp="1" noChangeAspect="1"/>
          </p:cNvSpPr>
          <p:nvPr>
            <p:ph type="pic" idx="1"/>
          </p:nvPr>
        </p:nvSpPr>
        <p:spPr>
          <a:xfrm>
            <a:off x="4211340" y="987427"/>
            <a:ext cx="5014913" cy="4873625"/>
          </a:xfrm>
        </p:spPr>
        <p:txBody>
          <a:bodyPr anchor="t"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r>
              <a:rPr lang="en-US"/>
              <a:t>Click icon to add picture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682328" y="2057400"/>
            <a:ext cx="3194943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8A02E74-1BEC-4682-B539-13A15FE70A36}" type="datetimeFigureOut">
              <a:rPr lang="en-GB" smtClean="0"/>
              <a:t>07/10/2022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1DEE93A-5D7F-45E3-9A29-AF2FD327AD34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297922058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8A02E74-1BEC-4682-B539-13A15FE70A36}" type="datetimeFigureOut">
              <a:rPr lang="en-GB" smtClean="0"/>
              <a:t>07/10/2022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1DEE93A-5D7F-45E3-9A29-AF2FD327AD34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584211657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7088982" y="365125"/>
            <a:ext cx="2135981" cy="58118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681038" y="365125"/>
            <a:ext cx="6284119" cy="5811838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8A02E74-1BEC-4682-B539-13A15FE70A36}" type="datetimeFigureOut">
              <a:rPr lang="en-GB" smtClean="0"/>
              <a:t>07/10/2022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1DEE93A-5D7F-45E3-9A29-AF2FD327AD34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395455063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681038" y="365127"/>
            <a:ext cx="8543925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81038" y="1825625"/>
            <a:ext cx="8543925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681038" y="6356352"/>
            <a:ext cx="222885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38A02E74-1BEC-4682-B539-13A15FE70A36}" type="datetimeFigureOut">
              <a:rPr lang="en-GB" smtClean="0"/>
              <a:t>07/10/2022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281363" y="6356352"/>
            <a:ext cx="3343275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996113" y="6356352"/>
            <a:ext cx="222885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1DEE93A-5D7F-45E3-9A29-AF2FD327AD34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83700355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73" r:id="rId1"/>
    <p:sldLayoutId id="2147483674" r:id="rId2"/>
    <p:sldLayoutId id="2147483675" r:id="rId3"/>
    <p:sldLayoutId id="2147483676" r:id="rId4"/>
    <p:sldLayoutId id="2147483677" r:id="rId5"/>
    <p:sldLayoutId id="2147483678" r:id="rId6"/>
    <p:sldLayoutId id="2147483679" r:id="rId7"/>
    <p:sldLayoutId id="2147483680" r:id="rId8"/>
    <p:sldLayoutId id="2147483681" r:id="rId9"/>
    <p:sldLayoutId id="2147483682" r:id="rId10"/>
    <p:sldLayoutId id="2147483683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97" name="Group 96">
            <a:extLst>
              <a:ext uri="{FF2B5EF4-FFF2-40B4-BE49-F238E27FC236}">
                <a16:creationId xmlns:a16="http://schemas.microsoft.com/office/drawing/2014/main" id="{5BA7C23E-6197-BC23-1BB2-2F2B5D74121C}"/>
              </a:ext>
            </a:extLst>
          </p:cNvPr>
          <p:cNvGrpSpPr/>
          <p:nvPr/>
        </p:nvGrpSpPr>
        <p:grpSpPr>
          <a:xfrm>
            <a:off x="1135389" y="766038"/>
            <a:ext cx="6440900" cy="5239347"/>
            <a:chOff x="801092" y="834864"/>
            <a:chExt cx="6440900" cy="5239347"/>
          </a:xfrm>
        </p:grpSpPr>
        <p:sp>
          <p:nvSpPr>
            <p:cNvPr id="9" name="Flowchart: Decision 8">
              <a:extLst>
                <a:ext uri="{FF2B5EF4-FFF2-40B4-BE49-F238E27FC236}">
                  <a16:creationId xmlns:a16="http://schemas.microsoft.com/office/drawing/2014/main" id="{9BAB24E8-6FA0-8716-84A0-D2CA1E975C22}"/>
                </a:ext>
              </a:extLst>
            </p:cNvPr>
            <p:cNvSpPr/>
            <p:nvPr/>
          </p:nvSpPr>
          <p:spPr>
            <a:xfrm>
              <a:off x="801092" y="2863100"/>
              <a:ext cx="1528415" cy="1284772"/>
            </a:xfrm>
            <a:prstGeom prst="flowChartDecision">
              <a:avLst/>
            </a:prstGeom>
          </p:spPr>
          <p:style>
            <a:lnRef idx="2">
              <a:schemeClr val="dk1"/>
            </a:lnRef>
            <a:fillRef idx="1">
              <a:schemeClr val="lt1"/>
            </a:fillRef>
            <a:effectRef idx="0">
              <a:schemeClr val="dk1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r>
                <a:rPr lang="en-GB" sz="1200" dirty="0">
                  <a:latin typeface="Lato Light" panose="020F0502020204030203" pitchFamily="34" charset="0"/>
                  <a:ea typeface="Lato Light" panose="020F0502020204030203" pitchFamily="34" charset="0"/>
                  <a:cs typeface="Lato Light" panose="020F0502020204030203" pitchFamily="34" charset="0"/>
                </a:rPr>
                <a:t>Scenario</a:t>
              </a:r>
            </a:p>
          </p:txBody>
        </p:sp>
        <p:grpSp>
          <p:nvGrpSpPr>
            <p:cNvPr id="96" name="Group 95">
              <a:extLst>
                <a:ext uri="{FF2B5EF4-FFF2-40B4-BE49-F238E27FC236}">
                  <a16:creationId xmlns:a16="http://schemas.microsoft.com/office/drawing/2014/main" id="{907E1DD8-E4D3-2B12-9E2E-45DA24D837D8}"/>
                </a:ext>
              </a:extLst>
            </p:cNvPr>
            <p:cNvGrpSpPr/>
            <p:nvPr/>
          </p:nvGrpSpPr>
          <p:grpSpPr>
            <a:xfrm>
              <a:off x="1565300" y="834864"/>
              <a:ext cx="5676692" cy="5239347"/>
              <a:chOff x="1565300" y="834864"/>
              <a:chExt cx="5676692" cy="5239347"/>
            </a:xfrm>
          </p:grpSpPr>
          <p:sp>
            <p:nvSpPr>
              <p:cNvPr id="6" name="Flowchart: Multidocument 5">
                <a:extLst>
                  <a:ext uri="{FF2B5EF4-FFF2-40B4-BE49-F238E27FC236}">
                    <a16:creationId xmlns:a16="http://schemas.microsoft.com/office/drawing/2014/main" id="{0E895BA0-D204-070C-2B77-1F2CF269C63B}"/>
                  </a:ext>
                </a:extLst>
              </p:cNvPr>
              <p:cNvSpPr/>
              <p:nvPr/>
            </p:nvSpPr>
            <p:spPr>
              <a:xfrm>
                <a:off x="2646594" y="1941940"/>
                <a:ext cx="1232919" cy="649649"/>
              </a:xfrm>
              <a:prstGeom prst="flowChartMultidocument">
                <a:avLst/>
              </a:prstGeom>
              <a:ln>
                <a:solidFill>
                  <a:schemeClr val="tx1">
                    <a:lumMod val="75000"/>
                    <a:lumOff val="25000"/>
                  </a:schemeClr>
                </a:solidFill>
              </a:ln>
            </p:spPr>
            <p:style>
              <a:lnRef idx="2">
                <a:schemeClr val="dk1"/>
              </a:lnRef>
              <a:fillRef idx="1">
                <a:schemeClr val="lt1"/>
              </a:fillRef>
              <a:effectRef idx="0">
                <a:schemeClr val="dk1"/>
              </a:effectRef>
              <a:fontRef idx="minor">
                <a:schemeClr val="dk1"/>
              </a:fontRef>
            </p:style>
            <p:txBody>
              <a:bodyPr rtlCol="0" anchor="ctr"/>
              <a:lstStyle/>
              <a:p>
                <a:pPr algn="ctr"/>
                <a:r>
                  <a:rPr lang="en-GB" sz="1200" dirty="0">
                    <a:latin typeface="Lato Light" panose="020F0502020204030203" pitchFamily="34" charset="0"/>
                    <a:ea typeface="Lato Light" panose="020F0502020204030203" pitchFamily="34" charset="0"/>
                    <a:cs typeface="Lato Light" panose="020F0502020204030203" pitchFamily="34" charset="0"/>
                  </a:rPr>
                  <a:t>Dynamic predictors</a:t>
                </a:r>
              </a:p>
            </p:txBody>
          </p:sp>
          <p:sp>
            <p:nvSpPr>
              <p:cNvPr id="7" name="Flowchart: Multidocument 6">
                <a:extLst>
                  <a:ext uri="{FF2B5EF4-FFF2-40B4-BE49-F238E27FC236}">
                    <a16:creationId xmlns:a16="http://schemas.microsoft.com/office/drawing/2014/main" id="{2EBE057C-2BFB-1377-25EB-96C50F8E6696}"/>
                  </a:ext>
                </a:extLst>
              </p:cNvPr>
              <p:cNvSpPr/>
              <p:nvPr/>
            </p:nvSpPr>
            <p:spPr>
              <a:xfrm>
                <a:off x="5937965" y="2461881"/>
                <a:ext cx="1304027" cy="879436"/>
              </a:xfrm>
              <a:prstGeom prst="flowChartMultidocument">
                <a:avLst/>
              </a:prstGeom>
              <a:ln>
                <a:solidFill>
                  <a:schemeClr val="tx1">
                    <a:lumMod val="75000"/>
                    <a:lumOff val="25000"/>
                  </a:schemeClr>
                </a:solidFill>
              </a:ln>
            </p:spPr>
            <p:style>
              <a:lnRef idx="2">
                <a:schemeClr val="dk1"/>
              </a:lnRef>
              <a:fillRef idx="1">
                <a:schemeClr val="lt1"/>
              </a:fillRef>
              <a:effectRef idx="0">
                <a:schemeClr val="dk1"/>
              </a:effectRef>
              <a:fontRef idx="minor">
                <a:schemeClr val="dk1"/>
              </a:fontRef>
            </p:style>
            <p:txBody>
              <a:bodyPr rtlCol="0" anchor="ctr"/>
              <a:lstStyle/>
              <a:p>
                <a:pPr algn="ctr"/>
                <a:r>
                  <a:rPr lang="en-GB" sz="1200" dirty="0">
                    <a:latin typeface="Lato Light" panose="020F0502020204030203" pitchFamily="34" charset="0"/>
                    <a:ea typeface="Lato Light" panose="020F0502020204030203" pitchFamily="34" charset="0"/>
                    <a:cs typeface="Lato Light" panose="020F0502020204030203" pitchFamily="34" charset="0"/>
                  </a:rPr>
                  <a:t>Static predictors</a:t>
                </a:r>
              </a:p>
            </p:txBody>
          </p:sp>
          <p:sp>
            <p:nvSpPr>
              <p:cNvPr id="8" name="Flowchart: Multidocument 7">
                <a:extLst>
                  <a:ext uri="{FF2B5EF4-FFF2-40B4-BE49-F238E27FC236}">
                    <a16:creationId xmlns:a16="http://schemas.microsoft.com/office/drawing/2014/main" id="{E62AA555-6398-B1C4-998C-DB2E396E34B2}"/>
                  </a:ext>
                </a:extLst>
              </p:cNvPr>
              <p:cNvSpPr/>
              <p:nvPr/>
            </p:nvSpPr>
            <p:spPr>
              <a:xfrm>
                <a:off x="5937965" y="1237311"/>
                <a:ext cx="1304027" cy="955394"/>
              </a:xfrm>
              <a:prstGeom prst="flowChartMultidocument">
                <a:avLst/>
              </a:prstGeom>
              <a:ln>
                <a:solidFill>
                  <a:schemeClr val="tx1">
                    <a:lumMod val="75000"/>
                    <a:lumOff val="25000"/>
                  </a:schemeClr>
                </a:solidFill>
              </a:ln>
            </p:spPr>
            <p:style>
              <a:lnRef idx="2">
                <a:schemeClr val="dk1"/>
              </a:lnRef>
              <a:fillRef idx="1">
                <a:schemeClr val="lt1"/>
              </a:fillRef>
              <a:effectRef idx="0">
                <a:schemeClr val="dk1"/>
              </a:effectRef>
              <a:fontRef idx="minor">
                <a:schemeClr val="dk1"/>
              </a:fontRef>
            </p:style>
            <p:txBody>
              <a:bodyPr rtlCol="0" anchor="ctr"/>
              <a:lstStyle/>
              <a:p>
                <a:pPr algn="ctr"/>
                <a:r>
                  <a:rPr lang="en-GB" sz="1200" dirty="0">
                    <a:latin typeface="Lato Light" panose="020F0502020204030203" pitchFamily="34" charset="0"/>
                    <a:ea typeface="Lato Light" panose="020F0502020204030203" pitchFamily="34" charset="0"/>
                    <a:cs typeface="Lato Light" panose="020F0502020204030203" pitchFamily="34" charset="0"/>
                  </a:rPr>
                  <a:t>Transition potential models</a:t>
                </a:r>
              </a:p>
            </p:txBody>
          </p:sp>
          <p:sp>
            <p:nvSpPr>
              <p:cNvPr id="10" name="Flowchart: Multidocument 9">
                <a:extLst>
                  <a:ext uri="{FF2B5EF4-FFF2-40B4-BE49-F238E27FC236}">
                    <a16:creationId xmlns:a16="http://schemas.microsoft.com/office/drawing/2014/main" id="{47DE9C19-D4D8-EDF0-8DD4-DBB34D7140A4}"/>
                  </a:ext>
                </a:extLst>
              </p:cNvPr>
              <p:cNvSpPr/>
              <p:nvPr/>
            </p:nvSpPr>
            <p:spPr>
              <a:xfrm>
                <a:off x="4256487" y="3075060"/>
                <a:ext cx="1273424" cy="879437"/>
              </a:xfrm>
              <a:prstGeom prst="flowChartMultidocument">
                <a:avLst/>
              </a:prstGeom>
              <a:ln>
                <a:solidFill>
                  <a:schemeClr val="tx1">
                    <a:lumMod val="75000"/>
                    <a:lumOff val="25000"/>
                  </a:schemeClr>
                </a:solidFill>
              </a:ln>
            </p:spPr>
            <p:style>
              <a:lnRef idx="2">
                <a:schemeClr val="dk1"/>
              </a:lnRef>
              <a:fillRef idx="1">
                <a:schemeClr val="lt1"/>
              </a:fillRef>
              <a:effectRef idx="0">
                <a:schemeClr val="dk1"/>
              </a:effectRef>
              <a:fontRef idx="minor">
                <a:schemeClr val="dk1"/>
              </a:fontRef>
            </p:style>
            <p:txBody>
              <a:bodyPr rtlCol="0" anchor="ctr"/>
              <a:lstStyle/>
              <a:p>
                <a:pPr algn="ctr"/>
                <a:r>
                  <a:rPr lang="en-GB" sz="1200" dirty="0">
                    <a:latin typeface="Lato Light" panose="020F0502020204030203" pitchFamily="34" charset="0"/>
                    <a:ea typeface="Lato Light" panose="020F0502020204030203" pitchFamily="34" charset="0"/>
                    <a:cs typeface="Lato Light" panose="020F0502020204030203" pitchFamily="34" charset="0"/>
                  </a:rPr>
                  <a:t>Transition potential maps</a:t>
                </a:r>
              </a:p>
            </p:txBody>
          </p:sp>
          <p:sp>
            <p:nvSpPr>
              <p:cNvPr id="11" name="Flowchart: Document 10">
                <a:extLst>
                  <a:ext uri="{FF2B5EF4-FFF2-40B4-BE49-F238E27FC236}">
                    <a16:creationId xmlns:a16="http://schemas.microsoft.com/office/drawing/2014/main" id="{E96C7314-A7AA-2970-3AA8-A374D83270E0}"/>
                  </a:ext>
                </a:extLst>
              </p:cNvPr>
              <p:cNvSpPr/>
              <p:nvPr/>
            </p:nvSpPr>
            <p:spPr>
              <a:xfrm>
                <a:off x="4284118" y="5374986"/>
                <a:ext cx="1058950" cy="699225"/>
              </a:xfrm>
              <a:prstGeom prst="flowChartDocument">
                <a:avLst/>
              </a:prstGeom>
            </p:spPr>
            <p:style>
              <a:lnRef idx="2">
                <a:schemeClr val="dk1"/>
              </a:lnRef>
              <a:fillRef idx="1">
                <a:schemeClr val="lt1"/>
              </a:fillRef>
              <a:effectRef idx="0">
                <a:schemeClr val="dk1"/>
              </a:effectRef>
              <a:fontRef idx="minor">
                <a:schemeClr val="dk1"/>
              </a:fontRef>
            </p:style>
            <p:txBody>
              <a:bodyPr rtlCol="0" anchor="ctr"/>
              <a:lstStyle/>
              <a:p>
                <a:pPr algn="ctr"/>
                <a:r>
                  <a:rPr lang="en-GB" sz="1200" dirty="0">
                    <a:latin typeface="Lato Light" panose="020F0502020204030203" pitchFamily="34" charset="0"/>
                    <a:ea typeface="Lato Light" panose="020F0502020204030203" pitchFamily="34" charset="0"/>
                    <a:cs typeface="Lato Light" panose="020F0502020204030203" pitchFamily="34" charset="0"/>
                  </a:rPr>
                  <a:t>Simulated LULC (t+5</a:t>
                </a:r>
                <a:r>
                  <a:rPr lang="en-GB" sz="1517" dirty="0">
                    <a:latin typeface="Lato Light" panose="020F0502020204030203" pitchFamily="34" charset="0"/>
                    <a:ea typeface="Lato Light" panose="020F0502020204030203" pitchFamily="34" charset="0"/>
                    <a:cs typeface="Lato Light" panose="020F0502020204030203" pitchFamily="34" charset="0"/>
                  </a:rPr>
                  <a:t>)</a:t>
                </a:r>
              </a:p>
            </p:txBody>
          </p:sp>
          <p:sp>
            <p:nvSpPr>
              <p:cNvPr id="12" name="Flowchart: Document 11">
                <a:extLst>
                  <a:ext uri="{FF2B5EF4-FFF2-40B4-BE49-F238E27FC236}">
                    <a16:creationId xmlns:a16="http://schemas.microsoft.com/office/drawing/2014/main" id="{A2525305-0B05-74CE-2861-D9F0F46F38F9}"/>
                  </a:ext>
                </a:extLst>
              </p:cNvPr>
              <p:cNvSpPr/>
              <p:nvPr/>
            </p:nvSpPr>
            <p:spPr>
              <a:xfrm>
                <a:off x="4256487" y="834864"/>
                <a:ext cx="1201970" cy="648857"/>
              </a:xfrm>
              <a:prstGeom prst="flowChartDocument">
                <a:avLst/>
              </a:prstGeom>
            </p:spPr>
            <p:style>
              <a:lnRef idx="2">
                <a:schemeClr val="dk1"/>
              </a:lnRef>
              <a:fillRef idx="1">
                <a:schemeClr val="lt1"/>
              </a:fillRef>
              <a:effectRef idx="0">
                <a:schemeClr val="dk1"/>
              </a:effectRef>
              <a:fontRef idx="minor">
                <a:schemeClr val="dk1"/>
              </a:fontRef>
            </p:style>
            <p:txBody>
              <a:bodyPr rtlCol="0" anchor="ctr"/>
              <a:lstStyle/>
              <a:p>
                <a:pPr algn="ctr"/>
                <a:r>
                  <a:rPr lang="en-GB" sz="1200" dirty="0">
                    <a:latin typeface="Lato Light" panose="020F0502020204030203" pitchFamily="34" charset="0"/>
                    <a:ea typeface="Lato Light" panose="020F0502020204030203" pitchFamily="34" charset="0"/>
                    <a:cs typeface="Lato Light" panose="020F0502020204030203" pitchFamily="34" charset="0"/>
                  </a:rPr>
                  <a:t> LULC (t)</a:t>
                </a:r>
              </a:p>
            </p:txBody>
          </p:sp>
          <p:sp>
            <p:nvSpPr>
              <p:cNvPr id="13" name="Flowchart: Process 12">
                <a:extLst>
                  <a:ext uri="{FF2B5EF4-FFF2-40B4-BE49-F238E27FC236}">
                    <a16:creationId xmlns:a16="http://schemas.microsoft.com/office/drawing/2014/main" id="{35844639-55C4-6A44-6938-188C13D58C8E}"/>
                  </a:ext>
                </a:extLst>
              </p:cNvPr>
              <p:cNvSpPr/>
              <p:nvPr/>
            </p:nvSpPr>
            <p:spPr>
              <a:xfrm>
                <a:off x="4224638" y="4428676"/>
                <a:ext cx="1177911" cy="612648"/>
              </a:xfrm>
              <a:prstGeom prst="flowChartProcess">
                <a:avLst/>
              </a:prstGeom>
              <a:solidFill>
                <a:schemeClr val="bg1"/>
              </a:solidFill>
              <a:ln>
                <a:solidFill>
                  <a:schemeClr val="tx1">
                    <a:lumMod val="85000"/>
                    <a:lumOff val="15000"/>
                  </a:scheme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GB" sz="1200" dirty="0">
                    <a:solidFill>
                      <a:schemeClr val="tx1"/>
                    </a:solidFill>
                    <a:latin typeface="Lato Light" panose="020F0502020204030203" pitchFamily="34" charset="0"/>
                    <a:ea typeface="Lato Light" panose="020F0502020204030203" pitchFamily="34" charset="0"/>
                    <a:cs typeface="Lato Light" panose="020F0502020204030203" pitchFamily="34" charset="0"/>
                  </a:rPr>
                  <a:t>Transition</a:t>
                </a:r>
              </a:p>
              <a:p>
                <a:pPr algn="ctr"/>
                <a:r>
                  <a:rPr lang="en-GB" sz="1200" dirty="0">
                    <a:solidFill>
                      <a:schemeClr val="tx1"/>
                    </a:solidFill>
                    <a:latin typeface="Lato Light" panose="020F0502020204030203" pitchFamily="34" charset="0"/>
                    <a:ea typeface="Lato Light" panose="020F0502020204030203" pitchFamily="34" charset="0"/>
                    <a:cs typeface="Lato Light" panose="020F0502020204030203" pitchFamily="34" charset="0"/>
                  </a:rPr>
                  <a:t>allocation</a:t>
                </a:r>
              </a:p>
            </p:txBody>
          </p:sp>
          <p:sp>
            <p:nvSpPr>
              <p:cNvPr id="14" name="Flowchart: Process 13">
                <a:extLst>
                  <a:ext uri="{FF2B5EF4-FFF2-40B4-BE49-F238E27FC236}">
                    <a16:creationId xmlns:a16="http://schemas.microsoft.com/office/drawing/2014/main" id="{30EC2951-1D3C-ED1E-6869-C0A6A3D50711}"/>
                  </a:ext>
                </a:extLst>
              </p:cNvPr>
              <p:cNvSpPr/>
              <p:nvPr/>
            </p:nvSpPr>
            <p:spPr>
              <a:xfrm>
                <a:off x="4256487" y="1808545"/>
                <a:ext cx="1201970" cy="879436"/>
              </a:xfrm>
              <a:prstGeom prst="flowChartProcess">
                <a:avLst/>
              </a:prstGeom>
              <a:solidFill>
                <a:schemeClr val="bg1"/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GB" sz="1200" dirty="0">
                    <a:solidFill>
                      <a:schemeClr val="tx1"/>
                    </a:solidFill>
                    <a:latin typeface="Lato Light" panose="020F0502020204030203" pitchFamily="34" charset="0"/>
                    <a:ea typeface="Lato Light" panose="020F0502020204030203" pitchFamily="34" charset="0"/>
                    <a:cs typeface="Lato Light" panose="020F0502020204030203" pitchFamily="34" charset="0"/>
                  </a:rPr>
                  <a:t>Cellular Transition potential prediction</a:t>
                </a:r>
              </a:p>
            </p:txBody>
          </p:sp>
          <p:sp>
            <p:nvSpPr>
              <p:cNvPr id="15" name="Flowchart: Alternate Process 14">
                <a:extLst>
                  <a:ext uri="{FF2B5EF4-FFF2-40B4-BE49-F238E27FC236}">
                    <a16:creationId xmlns:a16="http://schemas.microsoft.com/office/drawing/2014/main" id="{D6D59A8C-DFF7-52B1-E8D4-6A258E33F0FD}"/>
                  </a:ext>
                </a:extLst>
              </p:cNvPr>
              <p:cNvSpPr/>
              <p:nvPr/>
            </p:nvSpPr>
            <p:spPr>
              <a:xfrm>
                <a:off x="2646594" y="3053167"/>
                <a:ext cx="1232919" cy="904637"/>
              </a:xfrm>
              <a:prstGeom prst="flowChartAlternateProcess">
                <a:avLst/>
              </a:prstGeom>
              <a:solidFill>
                <a:schemeClr val="bg1"/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GB" sz="1200" dirty="0">
                    <a:solidFill>
                      <a:schemeClr val="tx1"/>
                    </a:solidFill>
                    <a:latin typeface="Lato Light" panose="020F0502020204030203" pitchFamily="34" charset="0"/>
                    <a:ea typeface="Lato Light" panose="020F0502020204030203" pitchFamily="34" charset="0"/>
                    <a:cs typeface="Lato Light" panose="020F0502020204030203" pitchFamily="34" charset="0"/>
                  </a:rPr>
                  <a:t>Transition potential perturbation</a:t>
                </a:r>
              </a:p>
            </p:txBody>
          </p:sp>
          <p:sp>
            <p:nvSpPr>
              <p:cNvPr id="16" name="Flowchart: Alternate Process 15">
                <a:extLst>
                  <a:ext uri="{FF2B5EF4-FFF2-40B4-BE49-F238E27FC236}">
                    <a16:creationId xmlns:a16="http://schemas.microsoft.com/office/drawing/2014/main" id="{C9FB045D-1484-809E-7CC2-A96640575CCE}"/>
                  </a:ext>
                </a:extLst>
              </p:cNvPr>
              <p:cNvSpPr/>
              <p:nvPr/>
            </p:nvSpPr>
            <p:spPr>
              <a:xfrm>
                <a:off x="2646595" y="4266412"/>
                <a:ext cx="1207204" cy="904637"/>
              </a:xfrm>
              <a:prstGeom prst="flowChartAlternateProcess">
                <a:avLst/>
              </a:prstGeom>
              <a:solidFill>
                <a:schemeClr val="bg1"/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GB" sz="1200" dirty="0">
                    <a:solidFill>
                      <a:schemeClr val="tx1"/>
                    </a:solidFill>
                    <a:latin typeface="Lato Light" panose="020F0502020204030203" pitchFamily="34" charset="0"/>
                    <a:ea typeface="Lato Light" panose="020F0502020204030203" pitchFamily="34" charset="0"/>
                    <a:cs typeface="Lato Light" panose="020F0502020204030203" pitchFamily="34" charset="0"/>
                  </a:rPr>
                  <a:t>Transition occurrence rates</a:t>
                </a:r>
              </a:p>
            </p:txBody>
          </p:sp>
          <p:cxnSp>
            <p:nvCxnSpPr>
              <p:cNvPr id="18" name="Straight Arrow Connector 17">
                <a:extLst>
                  <a:ext uri="{FF2B5EF4-FFF2-40B4-BE49-F238E27FC236}">
                    <a16:creationId xmlns:a16="http://schemas.microsoft.com/office/drawing/2014/main" id="{930567D9-F389-1AC3-2A66-929493944685}"/>
                  </a:ext>
                </a:extLst>
              </p:cNvPr>
              <p:cNvCxnSpPr>
                <a:cxnSpLocks/>
                <a:stCxn id="6" idx="3"/>
                <a:endCxn id="14" idx="1"/>
              </p:cNvCxnSpPr>
              <p:nvPr/>
            </p:nvCxnSpPr>
            <p:spPr>
              <a:xfrm flipV="1">
                <a:off x="3879513" y="2248263"/>
                <a:ext cx="376974" cy="18502"/>
              </a:xfrm>
              <a:prstGeom prst="straightConnector1">
                <a:avLst/>
              </a:prstGeom>
              <a:ln>
                <a:solidFill>
                  <a:schemeClr val="tx1">
                    <a:lumMod val="85000"/>
                    <a:lumOff val="15000"/>
                  </a:schemeClr>
                </a:solidFill>
                <a:tailEnd type="triangle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21" name="Straight Arrow Connector 20">
                <a:extLst>
                  <a:ext uri="{FF2B5EF4-FFF2-40B4-BE49-F238E27FC236}">
                    <a16:creationId xmlns:a16="http://schemas.microsoft.com/office/drawing/2014/main" id="{C4284097-C141-3E23-D173-5C55046B4E81}"/>
                  </a:ext>
                </a:extLst>
              </p:cNvPr>
              <p:cNvCxnSpPr>
                <a:cxnSpLocks/>
                <a:stCxn id="12" idx="2"/>
                <a:endCxn id="14" idx="0"/>
              </p:cNvCxnSpPr>
              <p:nvPr/>
            </p:nvCxnSpPr>
            <p:spPr>
              <a:xfrm>
                <a:off x="4857472" y="1440824"/>
                <a:ext cx="0" cy="367721"/>
              </a:xfrm>
              <a:prstGeom prst="straightConnector1">
                <a:avLst/>
              </a:prstGeom>
              <a:ln>
                <a:solidFill>
                  <a:schemeClr val="tx1">
                    <a:lumMod val="85000"/>
                    <a:lumOff val="15000"/>
                  </a:schemeClr>
                </a:solidFill>
                <a:tailEnd type="triangle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29" name="Connector: Elbow 28">
                <a:extLst>
                  <a:ext uri="{FF2B5EF4-FFF2-40B4-BE49-F238E27FC236}">
                    <a16:creationId xmlns:a16="http://schemas.microsoft.com/office/drawing/2014/main" id="{A2D95579-0F4C-066D-3E42-FBFD7BF278D3}"/>
                  </a:ext>
                </a:extLst>
              </p:cNvPr>
              <p:cNvCxnSpPr>
                <a:stCxn id="9" idx="0"/>
                <a:endCxn id="6" idx="1"/>
              </p:cNvCxnSpPr>
              <p:nvPr/>
            </p:nvCxnSpPr>
            <p:spPr>
              <a:xfrm rot="5400000" flipH="1" flipV="1">
                <a:off x="1807780" y="2024286"/>
                <a:ext cx="596335" cy="1081294"/>
              </a:xfrm>
              <a:prstGeom prst="bentConnector2">
                <a:avLst/>
              </a:prstGeom>
              <a:ln>
                <a:solidFill>
                  <a:schemeClr val="tx1">
                    <a:lumMod val="85000"/>
                    <a:lumOff val="15000"/>
                  </a:schemeClr>
                </a:solidFill>
                <a:tailEnd type="triangle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31" name="Connector: Elbow 30">
                <a:extLst>
                  <a:ext uri="{FF2B5EF4-FFF2-40B4-BE49-F238E27FC236}">
                    <a16:creationId xmlns:a16="http://schemas.microsoft.com/office/drawing/2014/main" id="{85BD8170-0AA0-5374-D7DC-A2FD220A6FB7}"/>
                  </a:ext>
                </a:extLst>
              </p:cNvPr>
              <p:cNvCxnSpPr>
                <a:cxnSpLocks/>
                <a:stCxn id="8" idx="1"/>
                <a:endCxn id="14" idx="3"/>
              </p:cNvCxnSpPr>
              <p:nvPr/>
            </p:nvCxnSpPr>
            <p:spPr>
              <a:xfrm rot="10800000" flipV="1">
                <a:off x="5458457" y="1715007"/>
                <a:ext cx="479508" cy="533255"/>
              </a:xfrm>
              <a:prstGeom prst="bentConnector3">
                <a:avLst/>
              </a:prstGeom>
              <a:ln>
                <a:solidFill>
                  <a:schemeClr val="tx1">
                    <a:lumMod val="85000"/>
                    <a:lumOff val="15000"/>
                  </a:schemeClr>
                </a:solidFill>
                <a:tailEnd type="triangle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32" name="Connector: Elbow 31">
                <a:extLst>
                  <a:ext uri="{FF2B5EF4-FFF2-40B4-BE49-F238E27FC236}">
                    <a16:creationId xmlns:a16="http://schemas.microsoft.com/office/drawing/2014/main" id="{E4210A09-6343-F925-034C-F7AC6CAF4F3A}"/>
                  </a:ext>
                </a:extLst>
              </p:cNvPr>
              <p:cNvCxnSpPr>
                <a:cxnSpLocks/>
                <a:stCxn id="7" idx="1"/>
                <a:endCxn id="14" idx="3"/>
              </p:cNvCxnSpPr>
              <p:nvPr/>
            </p:nvCxnSpPr>
            <p:spPr>
              <a:xfrm rot="10800000">
                <a:off x="5458457" y="2248263"/>
                <a:ext cx="479508" cy="653336"/>
              </a:xfrm>
              <a:prstGeom prst="bentConnector3">
                <a:avLst>
                  <a:gd name="adj1" fmla="val 50000"/>
                </a:avLst>
              </a:prstGeom>
              <a:ln>
                <a:solidFill>
                  <a:schemeClr val="tx1">
                    <a:lumMod val="85000"/>
                    <a:lumOff val="15000"/>
                  </a:schemeClr>
                </a:solidFill>
                <a:tailEnd type="triangle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35" name="Connector: Elbow 34">
                <a:extLst>
                  <a:ext uri="{FF2B5EF4-FFF2-40B4-BE49-F238E27FC236}">
                    <a16:creationId xmlns:a16="http://schemas.microsoft.com/office/drawing/2014/main" id="{9777F8F5-C9B1-EFC6-F910-AFB3D766CEF5}"/>
                  </a:ext>
                </a:extLst>
              </p:cNvPr>
              <p:cNvCxnSpPr>
                <a:cxnSpLocks/>
                <a:stCxn id="9" idx="2"/>
                <a:endCxn id="16" idx="1"/>
              </p:cNvCxnSpPr>
              <p:nvPr/>
            </p:nvCxnSpPr>
            <p:spPr>
              <a:xfrm rot="16200000" flipH="1">
                <a:off x="1820518" y="3892653"/>
                <a:ext cx="570859" cy="1081295"/>
              </a:xfrm>
              <a:prstGeom prst="bentConnector2">
                <a:avLst/>
              </a:prstGeom>
              <a:ln>
                <a:solidFill>
                  <a:schemeClr val="tx1">
                    <a:lumMod val="85000"/>
                    <a:lumOff val="15000"/>
                  </a:schemeClr>
                </a:solidFill>
                <a:tailEnd type="triangle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39" name="Straight Arrow Connector 38">
                <a:extLst>
                  <a:ext uri="{FF2B5EF4-FFF2-40B4-BE49-F238E27FC236}">
                    <a16:creationId xmlns:a16="http://schemas.microsoft.com/office/drawing/2014/main" id="{4A41EB6C-54D9-3328-735D-F058A6819B23}"/>
                  </a:ext>
                </a:extLst>
              </p:cNvPr>
              <p:cNvCxnSpPr>
                <a:cxnSpLocks/>
                <a:stCxn id="9" idx="3"/>
                <a:endCxn id="15" idx="1"/>
              </p:cNvCxnSpPr>
              <p:nvPr/>
            </p:nvCxnSpPr>
            <p:spPr>
              <a:xfrm>
                <a:off x="2329507" y="3505486"/>
                <a:ext cx="317087" cy="0"/>
              </a:xfrm>
              <a:prstGeom prst="straightConnector1">
                <a:avLst/>
              </a:prstGeom>
              <a:ln>
                <a:solidFill>
                  <a:schemeClr val="tx1">
                    <a:lumMod val="85000"/>
                    <a:lumOff val="15000"/>
                  </a:schemeClr>
                </a:solidFill>
                <a:tailEnd type="triangle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42" name="Straight Arrow Connector 41">
                <a:extLst>
                  <a:ext uri="{FF2B5EF4-FFF2-40B4-BE49-F238E27FC236}">
                    <a16:creationId xmlns:a16="http://schemas.microsoft.com/office/drawing/2014/main" id="{E681C5EB-A555-A3AF-2859-53913EEF7EEC}"/>
                  </a:ext>
                </a:extLst>
              </p:cNvPr>
              <p:cNvCxnSpPr>
                <a:cxnSpLocks/>
                <a:stCxn id="15" idx="3"/>
                <a:endCxn id="10" idx="1"/>
              </p:cNvCxnSpPr>
              <p:nvPr/>
            </p:nvCxnSpPr>
            <p:spPr>
              <a:xfrm>
                <a:off x="3879513" y="3505486"/>
                <a:ext cx="376974" cy="9293"/>
              </a:xfrm>
              <a:prstGeom prst="straightConnector1">
                <a:avLst/>
              </a:prstGeom>
              <a:ln>
                <a:solidFill>
                  <a:schemeClr val="tx1">
                    <a:lumMod val="85000"/>
                    <a:lumOff val="15000"/>
                  </a:schemeClr>
                </a:solidFill>
                <a:tailEnd type="triangle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45" name="Straight Arrow Connector 44">
                <a:extLst>
                  <a:ext uri="{FF2B5EF4-FFF2-40B4-BE49-F238E27FC236}">
                    <a16:creationId xmlns:a16="http://schemas.microsoft.com/office/drawing/2014/main" id="{83D955EA-2DB1-8969-2627-ED17E3879356}"/>
                  </a:ext>
                </a:extLst>
              </p:cNvPr>
              <p:cNvCxnSpPr>
                <a:cxnSpLocks/>
                <a:stCxn id="16" idx="3"/>
                <a:endCxn id="13" idx="1"/>
              </p:cNvCxnSpPr>
              <p:nvPr/>
            </p:nvCxnSpPr>
            <p:spPr>
              <a:xfrm>
                <a:off x="3853799" y="4718731"/>
                <a:ext cx="370839" cy="16269"/>
              </a:xfrm>
              <a:prstGeom prst="straightConnector1">
                <a:avLst/>
              </a:prstGeom>
              <a:ln>
                <a:solidFill>
                  <a:schemeClr val="tx1">
                    <a:lumMod val="85000"/>
                    <a:lumOff val="15000"/>
                  </a:schemeClr>
                </a:solidFill>
                <a:tailEnd type="triangle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67" name="Straight Arrow Connector 66">
                <a:extLst>
                  <a:ext uri="{FF2B5EF4-FFF2-40B4-BE49-F238E27FC236}">
                    <a16:creationId xmlns:a16="http://schemas.microsoft.com/office/drawing/2014/main" id="{19FBC0E7-49AD-B21C-82C4-4BD91F9C43B8}"/>
                  </a:ext>
                </a:extLst>
              </p:cNvPr>
              <p:cNvCxnSpPr>
                <a:cxnSpLocks/>
                <a:stCxn id="10" idx="2"/>
                <a:endCxn id="13" idx="0"/>
              </p:cNvCxnSpPr>
              <p:nvPr/>
            </p:nvCxnSpPr>
            <p:spPr>
              <a:xfrm>
                <a:off x="4804649" y="3921192"/>
                <a:ext cx="8945" cy="507484"/>
              </a:xfrm>
              <a:prstGeom prst="straightConnector1">
                <a:avLst/>
              </a:prstGeom>
              <a:ln>
                <a:solidFill>
                  <a:schemeClr val="tx1">
                    <a:lumMod val="85000"/>
                    <a:lumOff val="15000"/>
                  </a:schemeClr>
                </a:solidFill>
                <a:tailEnd type="triangle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76" name="Straight Arrow Connector 75">
                <a:extLst>
                  <a:ext uri="{FF2B5EF4-FFF2-40B4-BE49-F238E27FC236}">
                    <a16:creationId xmlns:a16="http://schemas.microsoft.com/office/drawing/2014/main" id="{5562BAE5-044B-BC92-232A-E894ED2EA21F}"/>
                  </a:ext>
                </a:extLst>
              </p:cNvPr>
              <p:cNvCxnSpPr>
                <a:cxnSpLocks/>
                <a:stCxn id="14" idx="2"/>
              </p:cNvCxnSpPr>
              <p:nvPr/>
            </p:nvCxnSpPr>
            <p:spPr>
              <a:xfrm>
                <a:off x="4857472" y="2687981"/>
                <a:ext cx="0" cy="424916"/>
              </a:xfrm>
              <a:prstGeom prst="straightConnector1">
                <a:avLst/>
              </a:prstGeom>
              <a:ln>
                <a:solidFill>
                  <a:schemeClr val="tx1">
                    <a:lumMod val="85000"/>
                    <a:lumOff val="15000"/>
                  </a:schemeClr>
                </a:solidFill>
                <a:tailEnd type="triangle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79" name="Straight Arrow Connector 78">
                <a:extLst>
                  <a:ext uri="{FF2B5EF4-FFF2-40B4-BE49-F238E27FC236}">
                    <a16:creationId xmlns:a16="http://schemas.microsoft.com/office/drawing/2014/main" id="{1EAB6A18-7E29-F4B8-738D-43339DFFA246}"/>
                  </a:ext>
                </a:extLst>
              </p:cNvPr>
              <p:cNvCxnSpPr>
                <a:cxnSpLocks/>
                <a:stCxn id="85" idx="1"/>
                <a:endCxn id="13" idx="3"/>
              </p:cNvCxnSpPr>
              <p:nvPr/>
            </p:nvCxnSpPr>
            <p:spPr>
              <a:xfrm flipH="1" flipV="1">
                <a:off x="5402549" y="4735000"/>
                <a:ext cx="459296" cy="9973"/>
              </a:xfrm>
              <a:prstGeom prst="straightConnector1">
                <a:avLst/>
              </a:prstGeom>
              <a:ln>
                <a:solidFill>
                  <a:schemeClr val="tx1">
                    <a:lumMod val="85000"/>
                    <a:lumOff val="15000"/>
                  </a:schemeClr>
                </a:solidFill>
                <a:tailEnd type="triangle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sp>
            <p:nvSpPr>
              <p:cNvPr id="85" name="Flowchart: Document 84">
                <a:extLst>
                  <a:ext uri="{FF2B5EF4-FFF2-40B4-BE49-F238E27FC236}">
                    <a16:creationId xmlns:a16="http://schemas.microsoft.com/office/drawing/2014/main" id="{7693D491-728F-C110-0C72-183A2513B8CC}"/>
                  </a:ext>
                </a:extLst>
              </p:cNvPr>
              <p:cNvSpPr/>
              <p:nvPr/>
            </p:nvSpPr>
            <p:spPr>
              <a:xfrm>
                <a:off x="5861845" y="4448622"/>
                <a:ext cx="1304026" cy="592702"/>
              </a:xfrm>
              <a:prstGeom prst="flowChartDocument">
                <a:avLst/>
              </a:prstGeom>
            </p:spPr>
            <p:style>
              <a:lnRef idx="2">
                <a:schemeClr val="dk1"/>
              </a:lnRef>
              <a:fillRef idx="1">
                <a:schemeClr val="lt1"/>
              </a:fillRef>
              <a:effectRef idx="0">
                <a:schemeClr val="dk1"/>
              </a:effectRef>
              <a:fontRef idx="minor">
                <a:schemeClr val="dk1"/>
              </a:fontRef>
            </p:style>
            <p:txBody>
              <a:bodyPr rtlCol="0" anchor="ctr"/>
              <a:lstStyle/>
              <a:p>
                <a:pPr algn="ctr"/>
                <a:r>
                  <a:rPr lang="en-GB" sz="1200" dirty="0">
                    <a:latin typeface="Lato Light" panose="020F0502020204030203" pitchFamily="34" charset="0"/>
                    <a:ea typeface="Lato Light" panose="020F0502020204030203" pitchFamily="34" charset="0"/>
                    <a:cs typeface="Lato Light" panose="020F0502020204030203" pitchFamily="34" charset="0"/>
                  </a:rPr>
                  <a:t>Allocation</a:t>
                </a:r>
              </a:p>
              <a:p>
                <a:pPr algn="ctr"/>
                <a:r>
                  <a:rPr lang="en-GB" sz="1200" dirty="0">
                    <a:latin typeface="Lato Light" panose="020F0502020204030203" pitchFamily="34" charset="0"/>
                    <a:ea typeface="Lato Light" panose="020F0502020204030203" pitchFamily="34" charset="0"/>
                    <a:cs typeface="Lato Light" panose="020F0502020204030203" pitchFamily="34" charset="0"/>
                  </a:rPr>
                  <a:t>parameters</a:t>
                </a:r>
              </a:p>
            </p:txBody>
          </p:sp>
          <p:cxnSp>
            <p:nvCxnSpPr>
              <p:cNvPr id="92" name="Straight Arrow Connector 91">
                <a:extLst>
                  <a:ext uri="{FF2B5EF4-FFF2-40B4-BE49-F238E27FC236}">
                    <a16:creationId xmlns:a16="http://schemas.microsoft.com/office/drawing/2014/main" id="{4655569D-FA15-9E7B-BEE9-0126D8DB8CB2}"/>
                  </a:ext>
                </a:extLst>
              </p:cNvPr>
              <p:cNvCxnSpPr>
                <a:cxnSpLocks/>
                <a:stCxn id="13" idx="2"/>
                <a:endCxn id="11" idx="0"/>
              </p:cNvCxnSpPr>
              <p:nvPr/>
            </p:nvCxnSpPr>
            <p:spPr>
              <a:xfrm flipH="1">
                <a:off x="4813593" y="5041324"/>
                <a:ext cx="1" cy="333662"/>
              </a:xfrm>
              <a:prstGeom prst="straightConnector1">
                <a:avLst/>
              </a:prstGeom>
              <a:ln>
                <a:solidFill>
                  <a:schemeClr val="tx1">
                    <a:lumMod val="85000"/>
                    <a:lumOff val="15000"/>
                  </a:schemeClr>
                </a:solidFill>
                <a:tailEnd type="triangle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</p:grpSp>
      </p:grpSp>
    </p:spTree>
    <p:extLst>
      <p:ext uri="{BB962C8B-B14F-4D97-AF65-F5344CB8AC3E}">
        <p14:creationId xmlns:p14="http://schemas.microsoft.com/office/powerpoint/2010/main" val="4038824732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 Them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 Them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 Them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>Office Theme</Template>
  <TotalTime>145</TotalTime>
  <Words>37</Words>
  <Application>Microsoft Office PowerPoint</Application>
  <PresentationFormat>A4 Paper (210x297 mm)</PresentationFormat>
  <Paragraphs>14</Paragraphs>
  <Slides>1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4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</vt:i4>
      </vt:variant>
    </vt:vector>
  </HeadingPairs>
  <TitlesOfParts>
    <vt:vector size="6" baseType="lpstr">
      <vt:lpstr>Arial</vt:lpstr>
      <vt:lpstr>Calibri</vt:lpstr>
      <vt:lpstr>Calibri Light</vt:lpstr>
      <vt:lpstr>Lato Light</vt:lpstr>
      <vt:lpstr>Office Theme</vt:lpstr>
      <vt:lpstr>PowerPoint Presentation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PowerPoint Presentation</dc:title>
  <dc:creator>Black  Benjamin</dc:creator>
  <cp:lastModifiedBy>Black  Benjamin</cp:lastModifiedBy>
  <cp:revision>49</cp:revision>
  <dcterms:created xsi:type="dcterms:W3CDTF">2022-04-14T08:42:49Z</dcterms:created>
  <dcterms:modified xsi:type="dcterms:W3CDTF">2022-10-07T14:55:41Z</dcterms:modified>
</cp:coreProperties>
</file>